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0"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9" r:id="rId22"/>
    <p:sldId id="280" r:id="rId23"/>
    <p:sldId id="281" r:id="rId24"/>
    <p:sldId id="282" r:id="rId25"/>
    <p:sldId id="283" r:id="rId26"/>
    <p:sldId id="284" r:id="rId27"/>
    <p:sldId id="28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A65ADF-991F-4E60-A4DB-053B09DB8AFA}" v="1" dt="2025-10-26T15:12:54.4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6" y="10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dy  Osama Mohammed El-Sayed Farag" userId="ce30e293-d0d5-48cf-89a7-3adfd3b27b58" providerId="ADAL" clId="{23D3872A-0C0E-438B-B7F9-3F27BE5F8405}"/>
    <pc:docChg chg="delSld modSld">
      <pc:chgData name="Hamdy  Osama Mohammed El-Sayed Farag" userId="ce30e293-d0d5-48cf-89a7-3adfd3b27b58" providerId="ADAL" clId="{23D3872A-0C0E-438B-B7F9-3F27BE5F8405}" dt="2025-10-26T15:50:45.641" v="2" actId="47"/>
      <pc:docMkLst>
        <pc:docMk/>
      </pc:docMkLst>
      <pc:sldChg chg="modSp mod">
        <pc:chgData name="Hamdy  Osama Mohammed El-Sayed Farag" userId="ce30e293-d0d5-48cf-89a7-3adfd3b27b58" providerId="ADAL" clId="{23D3872A-0C0E-438B-B7F9-3F27BE5F8405}" dt="2025-10-26T15:12:54.475" v="1"/>
        <pc:sldMkLst>
          <pc:docMk/>
          <pc:sldMk cId="2832907111" sldId="257"/>
        </pc:sldMkLst>
        <pc:spChg chg="mod">
          <ac:chgData name="Hamdy  Osama Mohammed El-Sayed Farag" userId="ce30e293-d0d5-48cf-89a7-3adfd3b27b58" providerId="ADAL" clId="{23D3872A-0C0E-438B-B7F9-3F27BE5F8405}" dt="2025-10-26T15:12:54.475" v="1"/>
          <ac:spMkLst>
            <pc:docMk/>
            <pc:sldMk cId="2832907111" sldId="257"/>
            <ac:spMk id="3" creationId="{567F9DC3-4362-6B6C-7259-DCACC7D96C49}"/>
          </ac:spMkLst>
        </pc:spChg>
      </pc:sldChg>
      <pc:sldChg chg="del">
        <pc:chgData name="Hamdy  Osama Mohammed El-Sayed Farag" userId="ce30e293-d0d5-48cf-89a7-3adfd3b27b58" providerId="ADAL" clId="{23D3872A-0C0E-438B-B7F9-3F27BE5F8405}" dt="2025-10-26T15:50:45.641" v="2" actId="47"/>
        <pc:sldMkLst>
          <pc:docMk/>
          <pc:sldMk cId="3490115148" sldId="26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0397-CEF8-AB4C-5737-FD8060D486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66A414-63EE-845B-08D2-51C018B83F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6B3CDF-AEB2-3B39-32E3-6BD8CDC0E626}"/>
              </a:ext>
            </a:extLst>
          </p:cNvPr>
          <p:cNvSpPr>
            <a:spLocks noGrp="1"/>
          </p:cNvSpPr>
          <p:nvPr>
            <p:ph type="dt" sz="half" idx="10"/>
          </p:nvPr>
        </p:nvSpPr>
        <p:spPr/>
        <p:txBody>
          <a:bodyPr/>
          <a:lstStyle/>
          <a:p>
            <a:fld id="{829143E4-3B65-44A6-99E2-C0A344ACB488}" type="datetimeFigureOut">
              <a:rPr lang="en-US" smtClean="0"/>
              <a:t>10/26/2025</a:t>
            </a:fld>
            <a:endParaRPr lang="en-US"/>
          </a:p>
        </p:txBody>
      </p:sp>
      <p:sp>
        <p:nvSpPr>
          <p:cNvPr id="5" name="Footer Placeholder 4">
            <a:extLst>
              <a:ext uri="{FF2B5EF4-FFF2-40B4-BE49-F238E27FC236}">
                <a16:creationId xmlns:a16="http://schemas.microsoft.com/office/drawing/2014/main" id="{4612BEFE-0E2C-BEF0-B105-FCBFBF0F9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406DF-1529-C893-3FF5-E33A64808DB4}"/>
              </a:ext>
            </a:extLst>
          </p:cNvPr>
          <p:cNvSpPr>
            <a:spLocks noGrp="1"/>
          </p:cNvSpPr>
          <p:nvPr>
            <p:ph type="sldNum" sz="quarter" idx="12"/>
          </p:nvPr>
        </p:nvSpPr>
        <p:spPr/>
        <p:txBody>
          <a:bodyPr/>
          <a:lstStyle/>
          <a:p>
            <a:fld id="{E024F934-8DCE-45C3-85C1-67C88259200C}" type="slidenum">
              <a:rPr lang="en-US" smtClean="0"/>
              <a:t>‹#›</a:t>
            </a:fld>
            <a:endParaRPr lang="en-US"/>
          </a:p>
        </p:txBody>
      </p:sp>
    </p:spTree>
    <p:extLst>
      <p:ext uri="{BB962C8B-B14F-4D97-AF65-F5344CB8AC3E}">
        <p14:creationId xmlns:p14="http://schemas.microsoft.com/office/powerpoint/2010/main" val="3658952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8FB92-9F27-BC03-AF1C-B1F8DDE3FF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B8B366-D9B0-6375-1A7D-4703BA01EF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C1F57D-ADF3-27FD-46FB-6B6315E85C04}"/>
              </a:ext>
            </a:extLst>
          </p:cNvPr>
          <p:cNvSpPr>
            <a:spLocks noGrp="1"/>
          </p:cNvSpPr>
          <p:nvPr>
            <p:ph type="dt" sz="half" idx="10"/>
          </p:nvPr>
        </p:nvSpPr>
        <p:spPr/>
        <p:txBody>
          <a:bodyPr/>
          <a:lstStyle/>
          <a:p>
            <a:fld id="{829143E4-3B65-44A6-99E2-C0A344ACB488}" type="datetimeFigureOut">
              <a:rPr lang="en-US" smtClean="0"/>
              <a:t>10/26/2025</a:t>
            </a:fld>
            <a:endParaRPr lang="en-US"/>
          </a:p>
        </p:txBody>
      </p:sp>
      <p:sp>
        <p:nvSpPr>
          <p:cNvPr id="5" name="Footer Placeholder 4">
            <a:extLst>
              <a:ext uri="{FF2B5EF4-FFF2-40B4-BE49-F238E27FC236}">
                <a16:creationId xmlns:a16="http://schemas.microsoft.com/office/drawing/2014/main" id="{67C93326-EF09-6417-DCD6-B0C0D63380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07D753-185D-81F3-FB7B-F9B135A7AA21}"/>
              </a:ext>
            </a:extLst>
          </p:cNvPr>
          <p:cNvSpPr>
            <a:spLocks noGrp="1"/>
          </p:cNvSpPr>
          <p:nvPr>
            <p:ph type="sldNum" sz="quarter" idx="12"/>
          </p:nvPr>
        </p:nvSpPr>
        <p:spPr/>
        <p:txBody>
          <a:bodyPr/>
          <a:lstStyle/>
          <a:p>
            <a:fld id="{E024F934-8DCE-45C3-85C1-67C88259200C}" type="slidenum">
              <a:rPr lang="en-US" smtClean="0"/>
              <a:t>‹#›</a:t>
            </a:fld>
            <a:endParaRPr lang="en-US"/>
          </a:p>
        </p:txBody>
      </p:sp>
    </p:spTree>
    <p:extLst>
      <p:ext uri="{BB962C8B-B14F-4D97-AF65-F5344CB8AC3E}">
        <p14:creationId xmlns:p14="http://schemas.microsoft.com/office/powerpoint/2010/main" val="1396148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9446B-A3D2-6BD3-9CA9-1B983F5442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604F08-F29F-C0E4-004D-DCA7694E46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1F702C-3603-7653-FFD1-75BDA7C09E2D}"/>
              </a:ext>
            </a:extLst>
          </p:cNvPr>
          <p:cNvSpPr>
            <a:spLocks noGrp="1"/>
          </p:cNvSpPr>
          <p:nvPr>
            <p:ph type="dt" sz="half" idx="10"/>
          </p:nvPr>
        </p:nvSpPr>
        <p:spPr/>
        <p:txBody>
          <a:bodyPr/>
          <a:lstStyle/>
          <a:p>
            <a:fld id="{829143E4-3B65-44A6-99E2-C0A344ACB488}" type="datetimeFigureOut">
              <a:rPr lang="en-US" smtClean="0"/>
              <a:t>10/26/2025</a:t>
            </a:fld>
            <a:endParaRPr lang="en-US"/>
          </a:p>
        </p:txBody>
      </p:sp>
      <p:sp>
        <p:nvSpPr>
          <p:cNvPr id="5" name="Footer Placeholder 4">
            <a:extLst>
              <a:ext uri="{FF2B5EF4-FFF2-40B4-BE49-F238E27FC236}">
                <a16:creationId xmlns:a16="http://schemas.microsoft.com/office/drawing/2014/main" id="{295312DC-68C0-F8E0-884B-62BADD2EFE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0CAE5E-537C-E223-E39D-66C8DF51A00E}"/>
              </a:ext>
            </a:extLst>
          </p:cNvPr>
          <p:cNvSpPr>
            <a:spLocks noGrp="1"/>
          </p:cNvSpPr>
          <p:nvPr>
            <p:ph type="sldNum" sz="quarter" idx="12"/>
          </p:nvPr>
        </p:nvSpPr>
        <p:spPr/>
        <p:txBody>
          <a:bodyPr/>
          <a:lstStyle/>
          <a:p>
            <a:fld id="{E024F934-8DCE-45C3-85C1-67C88259200C}" type="slidenum">
              <a:rPr lang="en-US" smtClean="0"/>
              <a:t>‹#›</a:t>
            </a:fld>
            <a:endParaRPr lang="en-US"/>
          </a:p>
        </p:txBody>
      </p:sp>
    </p:spTree>
    <p:extLst>
      <p:ext uri="{BB962C8B-B14F-4D97-AF65-F5344CB8AC3E}">
        <p14:creationId xmlns:p14="http://schemas.microsoft.com/office/powerpoint/2010/main" val="1285651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17F66-7848-E07C-F5A1-91E3EBAA9D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1A509B-68C8-177B-6F96-AB5A8C0710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725C57-5880-4C88-DE9C-D73DCA99E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91F2AB-56C5-819A-3551-D1A356E68122}"/>
              </a:ext>
            </a:extLst>
          </p:cNvPr>
          <p:cNvSpPr>
            <a:spLocks noGrp="1"/>
          </p:cNvSpPr>
          <p:nvPr>
            <p:ph type="dt" sz="half" idx="10"/>
          </p:nvPr>
        </p:nvSpPr>
        <p:spPr/>
        <p:txBody>
          <a:bodyPr/>
          <a:lstStyle/>
          <a:p>
            <a:fld id="{829143E4-3B65-44A6-99E2-C0A344ACB488}" type="datetimeFigureOut">
              <a:rPr lang="en-US" smtClean="0"/>
              <a:t>10/26/2025</a:t>
            </a:fld>
            <a:endParaRPr lang="en-US"/>
          </a:p>
        </p:txBody>
      </p:sp>
      <p:sp>
        <p:nvSpPr>
          <p:cNvPr id="6" name="Footer Placeholder 5">
            <a:extLst>
              <a:ext uri="{FF2B5EF4-FFF2-40B4-BE49-F238E27FC236}">
                <a16:creationId xmlns:a16="http://schemas.microsoft.com/office/drawing/2014/main" id="{A28A9B04-DF30-C59E-0BF0-3146E8288A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90CDF7-F5B7-0B19-E613-5B53F0381D08}"/>
              </a:ext>
            </a:extLst>
          </p:cNvPr>
          <p:cNvSpPr>
            <a:spLocks noGrp="1"/>
          </p:cNvSpPr>
          <p:nvPr>
            <p:ph type="sldNum" sz="quarter" idx="12"/>
          </p:nvPr>
        </p:nvSpPr>
        <p:spPr/>
        <p:txBody>
          <a:bodyPr/>
          <a:lstStyle/>
          <a:p>
            <a:fld id="{E024F934-8DCE-45C3-85C1-67C88259200C}" type="slidenum">
              <a:rPr lang="en-US" smtClean="0"/>
              <a:t>‹#›</a:t>
            </a:fld>
            <a:endParaRPr lang="en-US"/>
          </a:p>
        </p:txBody>
      </p:sp>
    </p:spTree>
    <p:extLst>
      <p:ext uri="{BB962C8B-B14F-4D97-AF65-F5344CB8AC3E}">
        <p14:creationId xmlns:p14="http://schemas.microsoft.com/office/powerpoint/2010/main" val="1115340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F8651-62FF-7CB4-4DDD-3DA00AEAAE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1926A6-6FE8-6573-E43E-CA799282B7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C1AA4C-DFA0-841C-8175-4C8C4E1A8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02A942-62C8-C94F-D090-58A7A4FBBE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BBFFDC-62DB-179C-7627-52B672C4E1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051786-8B11-19C4-6206-80E378318EC1}"/>
              </a:ext>
            </a:extLst>
          </p:cNvPr>
          <p:cNvSpPr>
            <a:spLocks noGrp="1"/>
          </p:cNvSpPr>
          <p:nvPr>
            <p:ph type="dt" sz="half" idx="10"/>
          </p:nvPr>
        </p:nvSpPr>
        <p:spPr/>
        <p:txBody>
          <a:bodyPr/>
          <a:lstStyle/>
          <a:p>
            <a:fld id="{829143E4-3B65-44A6-99E2-C0A344ACB488}" type="datetimeFigureOut">
              <a:rPr lang="en-US" smtClean="0"/>
              <a:t>10/26/2025</a:t>
            </a:fld>
            <a:endParaRPr lang="en-US"/>
          </a:p>
        </p:txBody>
      </p:sp>
      <p:sp>
        <p:nvSpPr>
          <p:cNvPr id="8" name="Footer Placeholder 7">
            <a:extLst>
              <a:ext uri="{FF2B5EF4-FFF2-40B4-BE49-F238E27FC236}">
                <a16:creationId xmlns:a16="http://schemas.microsoft.com/office/drawing/2014/main" id="{52667216-8F4B-180D-9F76-67F3292CD2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C23432-3DC0-ECE9-36C0-EC6EBB3238B5}"/>
              </a:ext>
            </a:extLst>
          </p:cNvPr>
          <p:cNvSpPr>
            <a:spLocks noGrp="1"/>
          </p:cNvSpPr>
          <p:nvPr>
            <p:ph type="sldNum" sz="quarter" idx="12"/>
          </p:nvPr>
        </p:nvSpPr>
        <p:spPr/>
        <p:txBody>
          <a:bodyPr/>
          <a:lstStyle/>
          <a:p>
            <a:fld id="{E024F934-8DCE-45C3-85C1-67C88259200C}" type="slidenum">
              <a:rPr lang="en-US" smtClean="0"/>
              <a:t>‹#›</a:t>
            </a:fld>
            <a:endParaRPr lang="en-US"/>
          </a:p>
        </p:txBody>
      </p:sp>
    </p:spTree>
    <p:extLst>
      <p:ext uri="{BB962C8B-B14F-4D97-AF65-F5344CB8AC3E}">
        <p14:creationId xmlns:p14="http://schemas.microsoft.com/office/powerpoint/2010/main" val="2535897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CCE91-BB3E-659B-A500-8B5BD92AF7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28544C-D4D8-F324-5633-5786A118BED8}"/>
              </a:ext>
            </a:extLst>
          </p:cNvPr>
          <p:cNvSpPr>
            <a:spLocks noGrp="1"/>
          </p:cNvSpPr>
          <p:nvPr>
            <p:ph type="dt" sz="half" idx="10"/>
          </p:nvPr>
        </p:nvSpPr>
        <p:spPr/>
        <p:txBody>
          <a:bodyPr/>
          <a:lstStyle/>
          <a:p>
            <a:fld id="{829143E4-3B65-44A6-99E2-C0A344ACB488}" type="datetimeFigureOut">
              <a:rPr lang="en-US" smtClean="0"/>
              <a:t>10/26/2025</a:t>
            </a:fld>
            <a:endParaRPr lang="en-US"/>
          </a:p>
        </p:txBody>
      </p:sp>
      <p:sp>
        <p:nvSpPr>
          <p:cNvPr id="4" name="Footer Placeholder 3">
            <a:extLst>
              <a:ext uri="{FF2B5EF4-FFF2-40B4-BE49-F238E27FC236}">
                <a16:creationId xmlns:a16="http://schemas.microsoft.com/office/drawing/2014/main" id="{AB6DF6A6-F098-FA13-AC15-3D450C0055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4F46F6-E77E-84EA-5143-E8FCCFD29186}"/>
              </a:ext>
            </a:extLst>
          </p:cNvPr>
          <p:cNvSpPr>
            <a:spLocks noGrp="1"/>
          </p:cNvSpPr>
          <p:nvPr>
            <p:ph type="sldNum" sz="quarter" idx="12"/>
          </p:nvPr>
        </p:nvSpPr>
        <p:spPr/>
        <p:txBody>
          <a:bodyPr/>
          <a:lstStyle/>
          <a:p>
            <a:fld id="{E024F934-8DCE-45C3-85C1-67C88259200C}" type="slidenum">
              <a:rPr lang="en-US" smtClean="0"/>
              <a:t>‹#›</a:t>
            </a:fld>
            <a:endParaRPr lang="en-US"/>
          </a:p>
        </p:txBody>
      </p:sp>
    </p:spTree>
    <p:extLst>
      <p:ext uri="{BB962C8B-B14F-4D97-AF65-F5344CB8AC3E}">
        <p14:creationId xmlns:p14="http://schemas.microsoft.com/office/powerpoint/2010/main" val="1108388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E372D7-3650-4957-A7CA-9264D2FDFE88}"/>
              </a:ext>
            </a:extLst>
          </p:cNvPr>
          <p:cNvSpPr>
            <a:spLocks noGrp="1"/>
          </p:cNvSpPr>
          <p:nvPr>
            <p:ph type="dt" sz="half" idx="10"/>
          </p:nvPr>
        </p:nvSpPr>
        <p:spPr/>
        <p:txBody>
          <a:bodyPr/>
          <a:lstStyle/>
          <a:p>
            <a:fld id="{829143E4-3B65-44A6-99E2-C0A344ACB488}" type="datetimeFigureOut">
              <a:rPr lang="en-US" smtClean="0"/>
              <a:t>10/26/2025</a:t>
            </a:fld>
            <a:endParaRPr lang="en-US"/>
          </a:p>
        </p:txBody>
      </p:sp>
      <p:sp>
        <p:nvSpPr>
          <p:cNvPr id="3" name="Footer Placeholder 2">
            <a:extLst>
              <a:ext uri="{FF2B5EF4-FFF2-40B4-BE49-F238E27FC236}">
                <a16:creationId xmlns:a16="http://schemas.microsoft.com/office/drawing/2014/main" id="{CB143576-D367-E1B4-8172-E93DEDCCFC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403F61-D9B9-8915-1AA0-9309D794CD65}"/>
              </a:ext>
            </a:extLst>
          </p:cNvPr>
          <p:cNvSpPr>
            <a:spLocks noGrp="1"/>
          </p:cNvSpPr>
          <p:nvPr>
            <p:ph type="sldNum" sz="quarter" idx="12"/>
          </p:nvPr>
        </p:nvSpPr>
        <p:spPr/>
        <p:txBody>
          <a:bodyPr/>
          <a:lstStyle/>
          <a:p>
            <a:fld id="{E024F934-8DCE-45C3-85C1-67C88259200C}" type="slidenum">
              <a:rPr lang="en-US" smtClean="0"/>
              <a:t>‹#›</a:t>
            </a:fld>
            <a:endParaRPr lang="en-US"/>
          </a:p>
        </p:txBody>
      </p:sp>
    </p:spTree>
    <p:extLst>
      <p:ext uri="{BB962C8B-B14F-4D97-AF65-F5344CB8AC3E}">
        <p14:creationId xmlns:p14="http://schemas.microsoft.com/office/powerpoint/2010/main" val="2854869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B223A-F0BF-A7D4-D6B1-2F99D39A70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8D9683-765C-3E82-0355-33EF26005B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10923E-5322-5A5E-F2B4-9D7083B2D7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117D97-3110-7A86-2D3B-66B0BB18D70D}"/>
              </a:ext>
            </a:extLst>
          </p:cNvPr>
          <p:cNvSpPr>
            <a:spLocks noGrp="1"/>
          </p:cNvSpPr>
          <p:nvPr>
            <p:ph type="dt" sz="half" idx="10"/>
          </p:nvPr>
        </p:nvSpPr>
        <p:spPr/>
        <p:txBody>
          <a:bodyPr/>
          <a:lstStyle/>
          <a:p>
            <a:fld id="{829143E4-3B65-44A6-99E2-C0A344ACB488}" type="datetimeFigureOut">
              <a:rPr lang="en-US" smtClean="0"/>
              <a:t>10/26/2025</a:t>
            </a:fld>
            <a:endParaRPr lang="en-US"/>
          </a:p>
        </p:txBody>
      </p:sp>
      <p:sp>
        <p:nvSpPr>
          <p:cNvPr id="6" name="Footer Placeholder 5">
            <a:extLst>
              <a:ext uri="{FF2B5EF4-FFF2-40B4-BE49-F238E27FC236}">
                <a16:creationId xmlns:a16="http://schemas.microsoft.com/office/drawing/2014/main" id="{EFC0ACEF-38F3-4285-990D-17C317A54A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2881D8-8464-E76D-1136-9C97B2FBEC7F}"/>
              </a:ext>
            </a:extLst>
          </p:cNvPr>
          <p:cNvSpPr>
            <a:spLocks noGrp="1"/>
          </p:cNvSpPr>
          <p:nvPr>
            <p:ph type="sldNum" sz="quarter" idx="12"/>
          </p:nvPr>
        </p:nvSpPr>
        <p:spPr/>
        <p:txBody>
          <a:bodyPr/>
          <a:lstStyle/>
          <a:p>
            <a:fld id="{E024F934-8DCE-45C3-85C1-67C88259200C}" type="slidenum">
              <a:rPr lang="en-US" smtClean="0"/>
              <a:t>‹#›</a:t>
            </a:fld>
            <a:endParaRPr lang="en-US"/>
          </a:p>
        </p:txBody>
      </p:sp>
    </p:spTree>
    <p:extLst>
      <p:ext uri="{BB962C8B-B14F-4D97-AF65-F5344CB8AC3E}">
        <p14:creationId xmlns:p14="http://schemas.microsoft.com/office/powerpoint/2010/main" val="3895245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530DF-CB36-D761-41AE-E419B7AAC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E3836C-8775-480A-D4DC-B08D378E57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2C2BA2-BD10-6573-D6EC-91EDB30A1F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454F48-5973-EC8F-64FE-42C3457E9ACA}"/>
              </a:ext>
            </a:extLst>
          </p:cNvPr>
          <p:cNvSpPr>
            <a:spLocks noGrp="1"/>
          </p:cNvSpPr>
          <p:nvPr>
            <p:ph type="dt" sz="half" idx="10"/>
          </p:nvPr>
        </p:nvSpPr>
        <p:spPr/>
        <p:txBody>
          <a:bodyPr/>
          <a:lstStyle/>
          <a:p>
            <a:fld id="{829143E4-3B65-44A6-99E2-C0A344ACB488}" type="datetimeFigureOut">
              <a:rPr lang="en-US" smtClean="0"/>
              <a:t>10/26/2025</a:t>
            </a:fld>
            <a:endParaRPr lang="en-US"/>
          </a:p>
        </p:txBody>
      </p:sp>
      <p:sp>
        <p:nvSpPr>
          <p:cNvPr id="6" name="Footer Placeholder 5">
            <a:extLst>
              <a:ext uri="{FF2B5EF4-FFF2-40B4-BE49-F238E27FC236}">
                <a16:creationId xmlns:a16="http://schemas.microsoft.com/office/drawing/2014/main" id="{7ADCB063-D735-A7A0-FFFD-670519AECD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3257B3-5E4A-C88A-CEEB-479DE6E17274}"/>
              </a:ext>
            </a:extLst>
          </p:cNvPr>
          <p:cNvSpPr>
            <a:spLocks noGrp="1"/>
          </p:cNvSpPr>
          <p:nvPr>
            <p:ph type="sldNum" sz="quarter" idx="12"/>
          </p:nvPr>
        </p:nvSpPr>
        <p:spPr/>
        <p:txBody>
          <a:bodyPr/>
          <a:lstStyle/>
          <a:p>
            <a:fld id="{E024F934-8DCE-45C3-85C1-67C88259200C}" type="slidenum">
              <a:rPr lang="en-US" smtClean="0"/>
              <a:t>‹#›</a:t>
            </a:fld>
            <a:endParaRPr lang="en-US"/>
          </a:p>
        </p:txBody>
      </p:sp>
    </p:spTree>
    <p:extLst>
      <p:ext uri="{BB962C8B-B14F-4D97-AF65-F5344CB8AC3E}">
        <p14:creationId xmlns:p14="http://schemas.microsoft.com/office/powerpoint/2010/main" val="2181296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BF1C2-8147-43B5-02CD-5F7AB4B71B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6B5C134-B573-BD79-0F40-D0AA3B8743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3A78B2-C8B6-230D-FDBE-667E6AEBDE25}"/>
              </a:ext>
            </a:extLst>
          </p:cNvPr>
          <p:cNvSpPr>
            <a:spLocks noGrp="1"/>
          </p:cNvSpPr>
          <p:nvPr>
            <p:ph type="dt" sz="half" idx="10"/>
          </p:nvPr>
        </p:nvSpPr>
        <p:spPr/>
        <p:txBody>
          <a:bodyPr/>
          <a:lstStyle/>
          <a:p>
            <a:fld id="{829143E4-3B65-44A6-99E2-C0A344ACB488}" type="datetimeFigureOut">
              <a:rPr lang="en-US" smtClean="0"/>
              <a:t>10/26/2025</a:t>
            </a:fld>
            <a:endParaRPr lang="en-US"/>
          </a:p>
        </p:txBody>
      </p:sp>
      <p:sp>
        <p:nvSpPr>
          <p:cNvPr id="5" name="Footer Placeholder 4">
            <a:extLst>
              <a:ext uri="{FF2B5EF4-FFF2-40B4-BE49-F238E27FC236}">
                <a16:creationId xmlns:a16="http://schemas.microsoft.com/office/drawing/2014/main" id="{3C6079F3-974C-1161-173B-564B8A464F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8D77C-D43A-E2E9-AB5C-EBED96FF142D}"/>
              </a:ext>
            </a:extLst>
          </p:cNvPr>
          <p:cNvSpPr>
            <a:spLocks noGrp="1"/>
          </p:cNvSpPr>
          <p:nvPr>
            <p:ph type="sldNum" sz="quarter" idx="12"/>
          </p:nvPr>
        </p:nvSpPr>
        <p:spPr/>
        <p:txBody>
          <a:bodyPr/>
          <a:lstStyle/>
          <a:p>
            <a:fld id="{E024F934-8DCE-45C3-85C1-67C88259200C}" type="slidenum">
              <a:rPr lang="en-US" smtClean="0"/>
              <a:t>‹#›</a:t>
            </a:fld>
            <a:endParaRPr lang="en-US"/>
          </a:p>
        </p:txBody>
      </p:sp>
    </p:spTree>
    <p:extLst>
      <p:ext uri="{BB962C8B-B14F-4D97-AF65-F5344CB8AC3E}">
        <p14:creationId xmlns:p14="http://schemas.microsoft.com/office/powerpoint/2010/main" val="4076446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D8D374-B295-B6B8-211E-976C8BD3A5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2A70EF-1C99-1ED6-5ED0-AF07C67AD0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5E2751-C58F-27FF-EA87-A72BBD69D3C5}"/>
              </a:ext>
            </a:extLst>
          </p:cNvPr>
          <p:cNvSpPr>
            <a:spLocks noGrp="1"/>
          </p:cNvSpPr>
          <p:nvPr>
            <p:ph type="dt" sz="half" idx="10"/>
          </p:nvPr>
        </p:nvSpPr>
        <p:spPr/>
        <p:txBody>
          <a:bodyPr/>
          <a:lstStyle/>
          <a:p>
            <a:fld id="{829143E4-3B65-44A6-99E2-C0A344ACB488}" type="datetimeFigureOut">
              <a:rPr lang="en-US" smtClean="0"/>
              <a:t>10/26/2025</a:t>
            </a:fld>
            <a:endParaRPr lang="en-US"/>
          </a:p>
        </p:txBody>
      </p:sp>
      <p:sp>
        <p:nvSpPr>
          <p:cNvPr id="5" name="Footer Placeholder 4">
            <a:extLst>
              <a:ext uri="{FF2B5EF4-FFF2-40B4-BE49-F238E27FC236}">
                <a16:creationId xmlns:a16="http://schemas.microsoft.com/office/drawing/2014/main" id="{785E7B30-3094-218A-7550-02D42EDBDB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D4FE9D-2ABF-C77B-139A-DE7C2DE437B9}"/>
              </a:ext>
            </a:extLst>
          </p:cNvPr>
          <p:cNvSpPr>
            <a:spLocks noGrp="1"/>
          </p:cNvSpPr>
          <p:nvPr>
            <p:ph type="sldNum" sz="quarter" idx="12"/>
          </p:nvPr>
        </p:nvSpPr>
        <p:spPr/>
        <p:txBody>
          <a:bodyPr/>
          <a:lstStyle/>
          <a:p>
            <a:fld id="{E024F934-8DCE-45C3-85C1-67C88259200C}" type="slidenum">
              <a:rPr lang="en-US" smtClean="0"/>
              <a:t>‹#›</a:t>
            </a:fld>
            <a:endParaRPr lang="en-US"/>
          </a:p>
        </p:txBody>
      </p:sp>
    </p:spTree>
    <p:extLst>
      <p:ext uri="{BB962C8B-B14F-4D97-AF65-F5344CB8AC3E}">
        <p14:creationId xmlns:p14="http://schemas.microsoft.com/office/powerpoint/2010/main" val="849923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6D539B-10D9-2841-A4B7-6DF5297BD2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299B63-19FE-AA4E-EBAF-5EB19F9FE6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46D70-6133-27F0-5C85-1FADE84089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9143E4-3B65-44A6-99E2-C0A344ACB488}" type="datetimeFigureOut">
              <a:rPr lang="en-US" smtClean="0"/>
              <a:t>10/26/2025</a:t>
            </a:fld>
            <a:endParaRPr lang="en-US"/>
          </a:p>
        </p:txBody>
      </p:sp>
      <p:sp>
        <p:nvSpPr>
          <p:cNvPr id="5" name="Footer Placeholder 4">
            <a:extLst>
              <a:ext uri="{FF2B5EF4-FFF2-40B4-BE49-F238E27FC236}">
                <a16:creationId xmlns:a16="http://schemas.microsoft.com/office/drawing/2014/main" id="{51F2DABF-F665-EF1E-3E32-B630929081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791D44-D23C-0B79-0EC3-F1A6BA68EA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24F934-8DCE-45C3-85C1-67C88259200C}" type="slidenum">
              <a:rPr lang="en-US" smtClean="0"/>
              <a:t>‹#›</a:t>
            </a:fld>
            <a:endParaRPr lang="en-US"/>
          </a:p>
        </p:txBody>
      </p:sp>
    </p:spTree>
    <p:extLst>
      <p:ext uri="{BB962C8B-B14F-4D97-AF65-F5344CB8AC3E}">
        <p14:creationId xmlns:p14="http://schemas.microsoft.com/office/powerpoint/2010/main" val="272866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codesandbox.io/p/sandbox/react-new?file=%2Fsrc%2FApp.j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react.dev"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0FAB5-F575-C82F-39E9-073C3635530C}"/>
              </a:ext>
            </a:extLst>
          </p:cNvPr>
          <p:cNvSpPr>
            <a:spLocks noGrp="1"/>
          </p:cNvSpPr>
          <p:nvPr>
            <p:ph type="ctrTitle"/>
          </p:nvPr>
        </p:nvSpPr>
        <p:spPr/>
        <p:txBody>
          <a:bodyPr/>
          <a:lstStyle/>
          <a:p>
            <a:r>
              <a:rPr lang="en-US" dirty="0"/>
              <a:t>Web Development</a:t>
            </a:r>
          </a:p>
        </p:txBody>
      </p:sp>
      <p:sp>
        <p:nvSpPr>
          <p:cNvPr id="3" name="Subtitle 2">
            <a:extLst>
              <a:ext uri="{FF2B5EF4-FFF2-40B4-BE49-F238E27FC236}">
                <a16:creationId xmlns:a16="http://schemas.microsoft.com/office/drawing/2014/main" id="{C0B69894-931C-0A3F-D770-4C4EADD941C5}"/>
              </a:ext>
            </a:extLst>
          </p:cNvPr>
          <p:cNvSpPr>
            <a:spLocks noGrp="1"/>
          </p:cNvSpPr>
          <p:nvPr>
            <p:ph type="subTitle" idx="1"/>
          </p:nvPr>
        </p:nvSpPr>
        <p:spPr/>
        <p:txBody>
          <a:bodyPr/>
          <a:lstStyle/>
          <a:p>
            <a:pPr marL="0" marR="0" lvl="0" indent="0" algn="ctr"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en-US" sz="2400" b="0" i="0" u="none" strike="noStrike" kern="0" cap="none" spc="0" normalizeH="0" baseline="0" noProof="0" dirty="0">
                <a:ln>
                  <a:noFill/>
                </a:ln>
                <a:solidFill>
                  <a:srgbClr val="595959"/>
                </a:solidFill>
                <a:effectLst/>
                <a:uLnTx/>
                <a:uFillTx/>
                <a:latin typeface="Arial"/>
                <a:cs typeface="Arial"/>
                <a:sym typeface="Arial"/>
              </a:rPr>
              <a:t>CSE343</a:t>
            </a:r>
          </a:p>
          <a:p>
            <a:pPr marL="0" marR="0" lvl="0" indent="0" algn="ctr"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en-US" sz="2400" b="0" i="0" u="none" strike="noStrike" kern="0" cap="none" spc="0" normalizeH="0" baseline="0" noProof="0" dirty="0">
                <a:ln>
                  <a:noFill/>
                </a:ln>
                <a:solidFill>
                  <a:srgbClr val="595959"/>
                </a:solidFill>
                <a:effectLst/>
                <a:uLnTx/>
                <a:uFillTx/>
                <a:latin typeface="Arial"/>
                <a:cs typeface="Arial"/>
                <a:sym typeface="Arial"/>
              </a:rPr>
              <a:t>Lab 5</a:t>
            </a:r>
          </a:p>
        </p:txBody>
      </p:sp>
    </p:spTree>
    <p:extLst>
      <p:ext uri="{BB962C8B-B14F-4D97-AF65-F5344CB8AC3E}">
        <p14:creationId xmlns:p14="http://schemas.microsoft.com/office/powerpoint/2010/main" val="2650532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8A765-BEA9-F3B9-0823-8F2A85A1C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C122A-6555-507E-9DF3-9F8ACD912244}"/>
              </a:ext>
            </a:extLst>
          </p:cNvPr>
          <p:cNvSpPr>
            <a:spLocks noGrp="1"/>
          </p:cNvSpPr>
          <p:nvPr>
            <p:ph type="ctrTitle"/>
          </p:nvPr>
        </p:nvSpPr>
        <p:spPr/>
        <p:txBody>
          <a:bodyPr/>
          <a:lstStyle/>
          <a:p>
            <a:r>
              <a:rPr lang="en-US" dirty="0"/>
              <a:t>Intro to React</a:t>
            </a:r>
          </a:p>
        </p:txBody>
      </p:sp>
      <p:sp>
        <p:nvSpPr>
          <p:cNvPr id="3" name="Subtitle 2">
            <a:extLst>
              <a:ext uri="{FF2B5EF4-FFF2-40B4-BE49-F238E27FC236}">
                <a16:creationId xmlns:a16="http://schemas.microsoft.com/office/drawing/2014/main" id="{1957A38E-6CF1-3840-7BB4-2D68349FA352}"/>
              </a:ext>
            </a:extLst>
          </p:cNvPr>
          <p:cNvSpPr>
            <a:spLocks noGrp="1"/>
          </p:cNvSpPr>
          <p:nvPr>
            <p:ph type="subTitle" idx="1"/>
          </p:nvPr>
        </p:nvSpPr>
        <p:spPr/>
        <p:txBody>
          <a:bodyPr/>
          <a:lstStyle/>
          <a:p>
            <a:pPr marL="0" marR="0" lvl="0" indent="0" algn="ctr" defTabSz="914400" rtl="0" eaLnBrk="1" fontAlgn="auto" latinLnBrk="0" hangingPunct="1">
              <a:lnSpc>
                <a:spcPct val="100000"/>
              </a:lnSpc>
              <a:spcBef>
                <a:spcPts val="0"/>
              </a:spcBef>
              <a:spcAft>
                <a:spcPts val="0"/>
              </a:spcAft>
              <a:buClr>
                <a:srgbClr val="595959"/>
              </a:buClr>
              <a:buSzPts val="2800"/>
              <a:buFont typeface="Arial"/>
              <a:buNone/>
              <a:tabLst/>
              <a:defRPr/>
            </a:pPr>
            <a:endParaRPr kumimoji="0" lang="en-US" sz="2400" b="0" i="0" u="none" strike="noStrike" kern="0" cap="none" spc="0" normalizeH="0" baseline="0" noProof="0" dirty="0">
              <a:ln>
                <a:noFill/>
              </a:ln>
              <a:solidFill>
                <a:srgbClr val="595959"/>
              </a:solidFill>
              <a:effectLst/>
              <a:uLnTx/>
              <a:uFillTx/>
              <a:latin typeface="Arial"/>
              <a:cs typeface="Arial"/>
              <a:sym typeface="Arial"/>
            </a:endParaRPr>
          </a:p>
        </p:txBody>
      </p:sp>
    </p:spTree>
    <p:extLst>
      <p:ext uri="{BB962C8B-B14F-4D97-AF65-F5344CB8AC3E}">
        <p14:creationId xmlns:p14="http://schemas.microsoft.com/office/powerpoint/2010/main" val="721425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A5762-E6E6-79BA-BB2F-CA9D490F5F24}"/>
              </a:ext>
            </a:extLst>
          </p:cNvPr>
          <p:cNvSpPr>
            <a:spLocks noGrp="1"/>
          </p:cNvSpPr>
          <p:nvPr>
            <p:ph type="title"/>
          </p:nvPr>
        </p:nvSpPr>
        <p:spPr/>
        <p:txBody>
          <a:bodyPr/>
          <a:lstStyle/>
          <a:p>
            <a:r>
              <a:rPr lang="en-US" dirty="0"/>
              <a:t>What is React? </a:t>
            </a:r>
          </a:p>
        </p:txBody>
      </p:sp>
      <p:sp>
        <p:nvSpPr>
          <p:cNvPr id="3" name="Content Placeholder 2">
            <a:extLst>
              <a:ext uri="{FF2B5EF4-FFF2-40B4-BE49-F238E27FC236}">
                <a16:creationId xmlns:a16="http://schemas.microsoft.com/office/drawing/2014/main" id="{567F9DC3-4362-6B6C-7259-DCACC7D96C49}"/>
              </a:ext>
            </a:extLst>
          </p:cNvPr>
          <p:cNvSpPr>
            <a:spLocks noGrp="1"/>
          </p:cNvSpPr>
          <p:nvPr>
            <p:ph idx="1"/>
          </p:nvPr>
        </p:nvSpPr>
        <p:spPr/>
        <p:txBody>
          <a:bodyPr/>
          <a:lstStyle/>
          <a:p>
            <a:r>
              <a:rPr lang="en-US" dirty="0"/>
              <a:t>React is a </a:t>
            </a:r>
            <a:r>
              <a:rPr lang="en-US" b="1" dirty="0"/>
              <a:t>Frontend Library</a:t>
            </a:r>
            <a:r>
              <a:rPr lang="en-US" dirty="0"/>
              <a:t> that makes frontend development easier and more scalable. How?</a:t>
            </a:r>
          </a:p>
          <a:p>
            <a:r>
              <a:rPr lang="en-US" dirty="0"/>
              <a:t>Let’s discuss how after we see some React code…</a:t>
            </a:r>
          </a:p>
          <a:p>
            <a:r>
              <a:rPr lang="en-US" dirty="0"/>
              <a:t>Search “react playground </a:t>
            </a:r>
            <a:r>
              <a:rPr lang="en-US" dirty="0" err="1"/>
              <a:t>CodeSandbox</a:t>
            </a:r>
            <a:r>
              <a:rPr lang="en-US" dirty="0"/>
              <a:t>” to start using react</a:t>
            </a:r>
          </a:p>
          <a:p>
            <a:r>
              <a:rPr lang="en-US" dirty="0"/>
              <a:t>Don’t worry if you don’t understand the code. It’s just for demonstration purposes</a:t>
            </a:r>
          </a:p>
          <a:p>
            <a:r>
              <a:rPr lang="en-US" dirty="0">
                <a:hlinkClick r:id="rId2"/>
              </a:rPr>
              <a:t>App.js - </a:t>
            </a:r>
            <a:r>
              <a:rPr lang="en-US" dirty="0" err="1">
                <a:hlinkClick r:id="rId2"/>
              </a:rPr>
              <a:t>nodebox</a:t>
            </a:r>
            <a:r>
              <a:rPr lang="en-US" dirty="0">
                <a:hlinkClick r:id="rId2"/>
              </a:rPr>
              <a:t> - </a:t>
            </a:r>
            <a:r>
              <a:rPr lang="en-US" dirty="0" err="1">
                <a:hlinkClick r:id="rId2"/>
              </a:rPr>
              <a:t>CodeSandbox</a:t>
            </a:r>
            <a:endParaRPr lang="en-US" dirty="0"/>
          </a:p>
          <a:p>
            <a:endParaRPr lang="en-US" dirty="0"/>
          </a:p>
          <a:p>
            <a:endParaRPr lang="en-US" dirty="0"/>
          </a:p>
        </p:txBody>
      </p:sp>
    </p:spTree>
    <p:extLst>
      <p:ext uri="{BB962C8B-B14F-4D97-AF65-F5344CB8AC3E}">
        <p14:creationId xmlns:p14="http://schemas.microsoft.com/office/powerpoint/2010/main" val="2832907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36514-EC08-9E42-72A4-CB7665813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70F1C-CC9D-3C52-A4C2-5416C969E63C}"/>
              </a:ext>
            </a:extLst>
          </p:cNvPr>
          <p:cNvSpPr>
            <a:spLocks noGrp="1"/>
          </p:cNvSpPr>
          <p:nvPr>
            <p:ph type="title"/>
          </p:nvPr>
        </p:nvSpPr>
        <p:spPr/>
        <p:txBody>
          <a:bodyPr/>
          <a:lstStyle/>
          <a:p>
            <a:r>
              <a:rPr lang="en-US" dirty="0"/>
              <a:t>Some React code</a:t>
            </a:r>
          </a:p>
        </p:txBody>
      </p:sp>
      <p:sp>
        <p:nvSpPr>
          <p:cNvPr id="6" name="TextBox 5">
            <a:extLst>
              <a:ext uri="{FF2B5EF4-FFF2-40B4-BE49-F238E27FC236}">
                <a16:creationId xmlns:a16="http://schemas.microsoft.com/office/drawing/2014/main" id="{C7F73334-7FAC-5AEE-AF0F-F22CC73F3EDE}"/>
              </a:ext>
            </a:extLst>
          </p:cNvPr>
          <p:cNvSpPr txBox="1"/>
          <p:nvPr/>
        </p:nvSpPr>
        <p:spPr>
          <a:xfrm>
            <a:off x="838200" y="5614219"/>
            <a:ext cx="7617542" cy="646331"/>
          </a:xfrm>
          <a:prstGeom prst="rect">
            <a:avLst/>
          </a:prstGeom>
          <a:noFill/>
        </p:spPr>
        <p:txBody>
          <a:bodyPr wrap="square" rtlCol="0">
            <a:spAutoFit/>
          </a:bodyPr>
          <a:lstStyle/>
          <a:p>
            <a:r>
              <a:rPr lang="en-US" dirty="0"/>
              <a:t>Looks familiar, doesn’t it?</a:t>
            </a:r>
          </a:p>
          <a:p>
            <a:r>
              <a:rPr lang="en-US" dirty="0"/>
              <a:t>Let’s try something else…</a:t>
            </a:r>
          </a:p>
        </p:txBody>
      </p:sp>
      <p:pic>
        <p:nvPicPr>
          <p:cNvPr id="4" name="Picture 3">
            <a:extLst>
              <a:ext uri="{FF2B5EF4-FFF2-40B4-BE49-F238E27FC236}">
                <a16:creationId xmlns:a16="http://schemas.microsoft.com/office/drawing/2014/main" id="{C831B5FA-433F-B9EA-1419-97A6009656AA}"/>
              </a:ext>
            </a:extLst>
          </p:cNvPr>
          <p:cNvPicPr>
            <a:picLocks noChangeAspect="1"/>
          </p:cNvPicPr>
          <p:nvPr/>
        </p:nvPicPr>
        <p:blipFill>
          <a:blip r:embed="rId2"/>
          <a:stretch>
            <a:fillRect/>
          </a:stretch>
        </p:blipFill>
        <p:spPr>
          <a:xfrm>
            <a:off x="838200" y="1495635"/>
            <a:ext cx="10136015" cy="3591426"/>
          </a:xfrm>
          <a:prstGeom prst="rect">
            <a:avLst/>
          </a:prstGeom>
        </p:spPr>
      </p:pic>
      <p:sp>
        <p:nvSpPr>
          <p:cNvPr id="7" name="Rectangle 6">
            <a:extLst>
              <a:ext uri="{FF2B5EF4-FFF2-40B4-BE49-F238E27FC236}">
                <a16:creationId xmlns:a16="http://schemas.microsoft.com/office/drawing/2014/main" id="{9F20B180-2372-02CB-CEE2-B8DB1AEB77C5}"/>
              </a:ext>
            </a:extLst>
          </p:cNvPr>
          <p:cNvSpPr/>
          <p:nvPr/>
        </p:nvSpPr>
        <p:spPr>
          <a:xfrm>
            <a:off x="1602658" y="2772697"/>
            <a:ext cx="3401961" cy="98322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0209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CF110-D986-B9E2-AE11-2C12104D2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C3994-F854-1002-9B83-E2D6B9E72625}"/>
              </a:ext>
            </a:extLst>
          </p:cNvPr>
          <p:cNvSpPr>
            <a:spLocks noGrp="1"/>
          </p:cNvSpPr>
          <p:nvPr>
            <p:ph type="title"/>
          </p:nvPr>
        </p:nvSpPr>
        <p:spPr/>
        <p:txBody>
          <a:bodyPr/>
          <a:lstStyle/>
          <a:p>
            <a:r>
              <a:rPr lang="en-US" dirty="0"/>
              <a:t>Some React code</a:t>
            </a:r>
          </a:p>
        </p:txBody>
      </p:sp>
      <p:pic>
        <p:nvPicPr>
          <p:cNvPr id="5" name="Picture 4">
            <a:extLst>
              <a:ext uri="{FF2B5EF4-FFF2-40B4-BE49-F238E27FC236}">
                <a16:creationId xmlns:a16="http://schemas.microsoft.com/office/drawing/2014/main" id="{6499704B-CE03-B5D9-749E-C965EA19F18F}"/>
              </a:ext>
            </a:extLst>
          </p:cNvPr>
          <p:cNvPicPr>
            <a:picLocks noChangeAspect="1"/>
          </p:cNvPicPr>
          <p:nvPr/>
        </p:nvPicPr>
        <p:blipFill>
          <a:blip r:embed="rId2"/>
          <a:srcRect b="25522"/>
          <a:stretch>
            <a:fillRect/>
          </a:stretch>
        </p:blipFill>
        <p:spPr>
          <a:xfrm>
            <a:off x="798627" y="1439167"/>
            <a:ext cx="10555173" cy="3653943"/>
          </a:xfrm>
          <a:prstGeom prst="rect">
            <a:avLst/>
          </a:prstGeom>
        </p:spPr>
      </p:pic>
      <p:sp>
        <p:nvSpPr>
          <p:cNvPr id="8" name="TextBox 7">
            <a:extLst>
              <a:ext uri="{FF2B5EF4-FFF2-40B4-BE49-F238E27FC236}">
                <a16:creationId xmlns:a16="http://schemas.microsoft.com/office/drawing/2014/main" id="{FED6B12C-0AE3-086B-6A19-FC13D7253890}"/>
              </a:ext>
            </a:extLst>
          </p:cNvPr>
          <p:cNvSpPr txBox="1"/>
          <p:nvPr/>
        </p:nvSpPr>
        <p:spPr>
          <a:xfrm>
            <a:off x="798627" y="5476568"/>
            <a:ext cx="6782044" cy="923330"/>
          </a:xfrm>
          <a:prstGeom prst="rect">
            <a:avLst/>
          </a:prstGeom>
          <a:noFill/>
        </p:spPr>
        <p:txBody>
          <a:bodyPr wrap="square" rtlCol="0">
            <a:spAutoFit/>
          </a:bodyPr>
          <a:lstStyle/>
          <a:p>
            <a:r>
              <a:rPr lang="en-US" dirty="0"/>
              <a:t>So, we can write some html in some function, then use that function inside our page…</a:t>
            </a:r>
          </a:p>
          <a:p>
            <a:r>
              <a:rPr lang="en-US" dirty="0"/>
              <a:t>Let’s try something else</a:t>
            </a:r>
          </a:p>
        </p:txBody>
      </p:sp>
      <p:cxnSp>
        <p:nvCxnSpPr>
          <p:cNvPr id="12" name="Straight Arrow Connector 11">
            <a:extLst>
              <a:ext uri="{FF2B5EF4-FFF2-40B4-BE49-F238E27FC236}">
                <a16:creationId xmlns:a16="http://schemas.microsoft.com/office/drawing/2014/main" id="{45A2A026-12C1-4D69-57DE-A92FCA4F7C7F}"/>
              </a:ext>
            </a:extLst>
          </p:cNvPr>
          <p:cNvCxnSpPr/>
          <p:nvPr/>
        </p:nvCxnSpPr>
        <p:spPr>
          <a:xfrm flipH="1" flipV="1">
            <a:off x="2998839" y="4041058"/>
            <a:ext cx="1052051" cy="589936"/>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16020A1-A3DE-BA44-7776-02911C16154A}"/>
              </a:ext>
            </a:extLst>
          </p:cNvPr>
          <p:cNvSpPr txBox="1"/>
          <p:nvPr/>
        </p:nvSpPr>
        <p:spPr>
          <a:xfrm>
            <a:off x="3953675" y="4562168"/>
            <a:ext cx="1532725" cy="369332"/>
          </a:xfrm>
          <a:prstGeom prst="rect">
            <a:avLst/>
          </a:prstGeom>
          <a:noFill/>
        </p:spPr>
        <p:txBody>
          <a:bodyPr wrap="square" rtlCol="0">
            <a:spAutoFit/>
          </a:bodyPr>
          <a:lstStyle/>
          <a:p>
            <a:r>
              <a:rPr lang="en-US" dirty="0">
                <a:solidFill>
                  <a:schemeClr val="bg1"/>
                </a:solidFill>
              </a:rPr>
              <a:t>Our page</a:t>
            </a:r>
          </a:p>
        </p:txBody>
      </p:sp>
      <p:cxnSp>
        <p:nvCxnSpPr>
          <p:cNvPr id="15" name="Straight Arrow Connector 14">
            <a:extLst>
              <a:ext uri="{FF2B5EF4-FFF2-40B4-BE49-F238E27FC236}">
                <a16:creationId xmlns:a16="http://schemas.microsoft.com/office/drawing/2014/main" id="{7A84157C-F34C-F87E-091D-6867816DCED2}"/>
              </a:ext>
            </a:extLst>
          </p:cNvPr>
          <p:cNvCxnSpPr/>
          <p:nvPr/>
        </p:nvCxnSpPr>
        <p:spPr>
          <a:xfrm flipH="1">
            <a:off x="3647768" y="2772697"/>
            <a:ext cx="1072269" cy="108155"/>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6BBC23CF-F554-EC6D-FE27-DBF086C830A8}"/>
              </a:ext>
            </a:extLst>
          </p:cNvPr>
          <p:cNvSpPr txBox="1"/>
          <p:nvPr/>
        </p:nvSpPr>
        <p:spPr>
          <a:xfrm>
            <a:off x="4700372" y="2511520"/>
            <a:ext cx="1700980" cy="369332"/>
          </a:xfrm>
          <a:prstGeom prst="rect">
            <a:avLst/>
          </a:prstGeom>
          <a:noFill/>
        </p:spPr>
        <p:txBody>
          <a:bodyPr wrap="square" rtlCol="0">
            <a:spAutoFit/>
          </a:bodyPr>
          <a:lstStyle/>
          <a:p>
            <a:r>
              <a:rPr lang="en-US" dirty="0">
                <a:solidFill>
                  <a:schemeClr val="bg1"/>
                </a:solidFill>
              </a:rPr>
              <a:t>Some function</a:t>
            </a:r>
          </a:p>
        </p:txBody>
      </p:sp>
    </p:spTree>
    <p:extLst>
      <p:ext uri="{BB962C8B-B14F-4D97-AF65-F5344CB8AC3E}">
        <p14:creationId xmlns:p14="http://schemas.microsoft.com/office/powerpoint/2010/main" val="2646091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4B567-E23C-628E-0647-9C414E4996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ACA3D-E00C-85F5-E912-AB2A3ED81607}"/>
              </a:ext>
            </a:extLst>
          </p:cNvPr>
          <p:cNvSpPr>
            <a:spLocks noGrp="1"/>
          </p:cNvSpPr>
          <p:nvPr>
            <p:ph type="title"/>
          </p:nvPr>
        </p:nvSpPr>
        <p:spPr/>
        <p:txBody>
          <a:bodyPr/>
          <a:lstStyle/>
          <a:p>
            <a:r>
              <a:rPr lang="en-US" dirty="0"/>
              <a:t>Some React code</a:t>
            </a:r>
          </a:p>
        </p:txBody>
      </p:sp>
      <p:cxnSp>
        <p:nvCxnSpPr>
          <p:cNvPr id="12" name="Straight Arrow Connector 11">
            <a:extLst>
              <a:ext uri="{FF2B5EF4-FFF2-40B4-BE49-F238E27FC236}">
                <a16:creationId xmlns:a16="http://schemas.microsoft.com/office/drawing/2014/main" id="{6BBCC09C-4AE6-175D-9ABA-10851BA180E1}"/>
              </a:ext>
            </a:extLst>
          </p:cNvPr>
          <p:cNvCxnSpPr/>
          <p:nvPr/>
        </p:nvCxnSpPr>
        <p:spPr>
          <a:xfrm flipH="1" flipV="1">
            <a:off x="2998839" y="4041058"/>
            <a:ext cx="1052051" cy="589936"/>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A33DA9F-D332-7DE8-92EF-409CEBE79D3B}"/>
              </a:ext>
            </a:extLst>
          </p:cNvPr>
          <p:cNvSpPr txBox="1"/>
          <p:nvPr/>
        </p:nvSpPr>
        <p:spPr>
          <a:xfrm>
            <a:off x="3953675" y="4562168"/>
            <a:ext cx="1532725" cy="369332"/>
          </a:xfrm>
          <a:prstGeom prst="rect">
            <a:avLst/>
          </a:prstGeom>
          <a:noFill/>
        </p:spPr>
        <p:txBody>
          <a:bodyPr wrap="square" rtlCol="0">
            <a:spAutoFit/>
          </a:bodyPr>
          <a:lstStyle/>
          <a:p>
            <a:r>
              <a:rPr lang="en-US" dirty="0">
                <a:solidFill>
                  <a:schemeClr val="bg1"/>
                </a:solidFill>
              </a:rPr>
              <a:t>Our page</a:t>
            </a:r>
          </a:p>
        </p:txBody>
      </p:sp>
      <p:cxnSp>
        <p:nvCxnSpPr>
          <p:cNvPr id="15" name="Straight Arrow Connector 14">
            <a:extLst>
              <a:ext uri="{FF2B5EF4-FFF2-40B4-BE49-F238E27FC236}">
                <a16:creationId xmlns:a16="http://schemas.microsoft.com/office/drawing/2014/main" id="{0F62BE59-5B07-EFD3-81F8-78109073127A}"/>
              </a:ext>
            </a:extLst>
          </p:cNvPr>
          <p:cNvCxnSpPr/>
          <p:nvPr/>
        </p:nvCxnSpPr>
        <p:spPr>
          <a:xfrm flipH="1">
            <a:off x="3647768" y="2772697"/>
            <a:ext cx="1072269" cy="108155"/>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04D4C97E-3A89-8A44-88B4-E2D6A35F80D4}"/>
              </a:ext>
            </a:extLst>
          </p:cNvPr>
          <p:cNvSpPr txBox="1"/>
          <p:nvPr/>
        </p:nvSpPr>
        <p:spPr>
          <a:xfrm>
            <a:off x="4700372" y="2511520"/>
            <a:ext cx="1700980" cy="369332"/>
          </a:xfrm>
          <a:prstGeom prst="rect">
            <a:avLst/>
          </a:prstGeom>
          <a:noFill/>
        </p:spPr>
        <p:txBody>
          <a:bodyPr wrap="square" rtlCol="0">
            <a:spAutoFit/>
          </a:bodyPr>
          <a:lstStyle/>
          <a:p>
            <a:r>
              <a:rPr lang="en-US" dirty="0">
                <a:solidFill>
                  <a:schemeClr val="bg1"/>
                </a:solidFill>
              </a:rPr>
              <a:t>Some function</a:t>
            </a:r>
          </a:p>
        </p:txBody>
      </p:sp>
      <p:pic>
        <p:nvPicPr>
          <p:cNvPr id="4" name="Picture 3">
            <a:extLst>
              <a:ext uri="{FF2B5EF4-FFF2-40B4-BE49-F238E27FC236}">
                <a16:creationId xmlns:a16="http://schemas.microsoft.com/office/drawing/2014/main" id="{D6A81E3B-938F-7D90-B84E-7819BBDCF8C3}"/>
              </a:ext>
            </a:extLst>
          </p:cNvPr>
          <p:cNvPicPr>
            <a:picLocks noChangeAspect="1"/>
          </p:cNvPicPr>
          <p:nvPr/>
        </p:nvPicPr>
        <p:blipFill>
          <a:blip r:embed="rId2"/>
          <a:stretch>
            <a:fillRect/>
          </a:stretch>
        </p:blipFill>
        <p:spPr>
          <a:xfrm>
            <a:off x="838200" y="1387809"/>
            <a:ext cx="9364382" cy="4391638"/>
          </a:xfrm>
          <a:prstGeom prst="rect">
            <a:avLst/>
          </a:prstGeom>
        </p:spPr>
      </p:pic>
      <p:sp>
        <p:nvSpPr>
          <p:cNvPr id="6" name="TextBox 5">
            <a:extLst>
              <a:ext uri="{FF2B5EF4-FFF2-40B4-BE49-F238E27FC236}">
                <a16:creationId xmlns:a16="http://schemas.microsoft.com/office/drawing/2014/main" id="{CADAC2FC-917A-1AEC-03C9-AD13A1203E4E}"/>
              </a:ext>
            </a:extLst>
          </p:cNvPr>
          <p:cNvSpPr txBox="1"/>
          <p:nvPr/>
        </p:nvSpPr>
        <p:spPr>
          <a:xfrm>
            <a:off x="838200" y="5958348"/>
            <a:ext cx="7401232" cy="369332"/>
          </a:xfrm>
          <a:prstGeom prst="rect">
            <a:avLst/>
          </a:prstGeom>
          <a:noFill/>
        </p:spPr>
        <p:txBody>
          <a:bodyPr wrap="square" rtlCol="0">
            <a:spAutoFit/>
          </a:bodyPr>
          <a:lstStyle/>
          <a:p>
            <a:r>
              <a:rPr lang="en-US" dirty="0"/>
              <a:t>Notice how we used this HelloWorld function twice in our page</a:t>
            </a:r>
          </a:p>
        </p:txBody>
      </p:sp>
      <p:sp>
        <p:nvSpPr>
          <p:cNvPr id="7" name="Rectangle 6">
            <a:extLst>
              <a:ext uri="{FF2B5EF4-FFF2-40B4-BE49-F238E27FC236}">
                <a16:creationId xmlns:a16="http://schemas.microsoft.com/office/drawing/2014/main" id="{50866ACA-B88E-0277-A1BC-3E29E82FB036}"/>
              </a:ext>
            </a:extLst>
          </p:cNvPr>
          <p:cNvSpPr/>
          <p:nvPr/>
        </p:nvSpPr>
        <p:spPr>
          <a:xfrm>
            <a:off x="2133600" y="4395018"/>
            <a:ext cx="1602658" cy="45228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7237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DD4A6-2A05-F6C5-F5F2-3755DF7A5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A65702-B864-9843-6C5D-0BFCCB023DD1}"/>
              </a:ext>
            </a:extLst>
          </p:cNvPr>
          <p:cNvSpPr>
            <a:spLocks noGrp="1"/>
          </p:cNvSpPr>
          <p:nvPr>
            <p:ph type="title"/>
          </p:nvPr>
        </p:nvSpPr>
        <p:spPr/>
        <p:txBody>
          <a:bodyPr/>
          <a:lstStyle/>
          <a:p>
            <a:r>
              <a:rPr lang="en-US" dirty="0"/>
              <a:t>Why React</a:t>
            </a:r>
          </a:p>
        </p:txBody>
      </p:sp>
      <p:sp>
        <p:nvSpPr>
          <p:cNvPr id="3" name="Content Placeholder 2">
            <a:extLst>
              <a:ext uri="{FF2B5EF4-FFF2-40B4-BE49-F238E27FC236}">
                <a16:creationId xmlns:a16="http://schemas.microsoft.com/office/drawing/2014/main" id="{83E919A1-56E3-1E27-43EB-9213656195DD}"/>
              </a:ext>
            </a:extLst>
          </p:cNvPr>
          <p:cNvSpPr>
            <a:spLocks noGrp="1"/>
          </p:cNvSpPr>
          <p:nvPr>
            <p:ph idx="1"/>
          </p:nvPr>
        </p:nvSpPr>
        <p:spPr/>
        <p:txBody>
          <a:bodyPr/>
          <a:lstStyle/>
          <a:p>
            <a:r>
              <a:rPr lang="en-US" dirty="0"/>
              <a:t>As we saw, in react you can create some “html” in some function and reuse it elsewhere. </a:t>
            </a:r>
          </a:p>
          <a:p>
            <a:r>
              <a:rPr lang="en-US" dirty="0"/>
              <a:t>That’s one powerful key feature in React where </a:t>
            </a:r>
            <a:r>
              <a:rPr lang="en-US" b="1" dirty="0"/>
              <a:t>we can write our components once and reuse</a:t>
            </a:r>
            <a:r>
              <a:rPr lang="en-US" dirty="0"/>
              <a:t> it instead of copying and pasting it.</a:t>
            </a:r>
          </a:p>
          <a:p>
            <a:r>
              <a:rPr lang="en-US" dirty="0"/>
              <a:t>There are several other features in React that frontend development easier and scalable. We will explore them as we go.</a:t>
            </a:r>
          </a:p>
        </p:txBody>
      </p:sp>
    </p:spTree>
    <p:extLst>
      <p:ext uri="{BB962C8B-B14F-4D97-AF65-F5344CB8AC3E}">
        <p14:creationId xmlns:p14="http://schemas.microsoft.com/office/powerpoint/2010/main" val="3432044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EA83A-AD2C-9130-2E96-248742577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5E14A-4C5D-E0CD-161D-5AC23363A36F}"/>
              </a:ext>
            </a:extLst>
          </p:cNvPr>
          <p:cNvSpPr>
            <a:spLocks noGrp="1"/>
          </p:cNvSpPr>
          <p:nvPr>
            <p:ph type="title"/>
          </p:nvPr>
        </p:nvSpPr>
        <p:spPr/>
        <p:txBody>
          <a:bodyPr/>
          <a:lstStyle/>
          <a:p>
            <a:r>
              <a:rPr lang="en-US" dirty="0"/>
              <a:t>Some React terms</a:t>
            </a:r>
          </a:p>
        </p:txBody>
      </p:sp>
      <p:sp>
        <p:nvSpPr>
          <p:cNvPr id="3" name="Content Placeholder 2">
            <a:extLst>
              <a:ext uri="{FF2B5EF4-FFF2-40B4-BE49-F238E27FC236}">
                <a16:creationId xmlns:a16="http://schemas.microsoft.com/office/drawing/2014/main" id="{28255A83-94A6-1C5B-A36E-E0EA9B02DE74}"/>
              </a:ext>
            </a:extLst>
          </p:cNvPr>
          <p:cNvSpPr>
            <a:spLocks noGrp="1"/>
          </p:cNvSpPr>
          <p:nvPr>
            <p:ph idx="1"/>
          </p:nvPr>
        </p:nvSpPr>
        <p:spPr/>
        <p:txBody>
          <a:bodyPr/>
          <a:lstStyle/>
          <a:p>
            <a:r>
              <a:rPr lang="en-US" dirty="0"/>
              <a:t>This function that contains html is called a component</a:t>
            </a:r>
          </a:p>
          <a:p>
            <a:r>
              <a:rPr lang="en-US" dirty="0"/>
              <a:t>The language that react uses is called </a:t>
            </a:r>
            <a:r>
              <a:rPr lang="en-US" dirty="0" err="1"/>
              <a:t>jsx</a:t>
            </a:r>
            <a:r>
              <a:rPr lang="en-US" dirty="0"/>
              <a:t>. It looks like html but can run </a:t>
            </a:r>
            <a:r>
              <a:rPr lang="en-US" dirty="0" err="1"/>
              <a:t>javascript</a:t>
            </a:r>
            <a:r>
              <a:rPr lang="en-US" dirty="0"/>
              <a:t> inside it.</a:t>
            </a:r>
          </a:p>
          <a:p>
            <a:r>
              <a:rPr lang="en-US" dirty="0"/>
              <a:t>We use </a:t>
            </a:r>
            <a:r>
              <a:rPr lang="en-US" dirty="0" err="1"/>
              <a:t>jsx</a:t>
            </a:r>
            <a:r>
              <a:rPr lang="en-US" dirty="0"/>
              <a:t> to build components and compose our UI using these components.</a:t>
            </a:r>
          </a:p>
        </p:txBody>
      </p:sp>
    </p:spTree>
    <p:extLst>
      <p:ext uri="{BB962C8B-B14F-4D97-AF65-F5344CB8AC3E}">
        <p14:creationId xmlns:p14="http://schemas.microsoft.com/office/powerpoint/2010/main" val="1145265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5108B-9A41-1D81-3763-C07BC19250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B4946-EA0C-020F-286C-FD83CE3ACEB7}"/>
              </a:ext>
            </a:extLst>
          </p:cNvPr>
          <p:cNvSpPr>
            <a:spLocks noGrp="1"/>
          </p:cNvSpPr>
          <p:nvPr>
            <p:ph type="title"/>
          </p:nvPr>
        </p:nvSpPr>
        <p:spPr/>
        <p:txBody>
          <a:bodyPr/>
          <a:lstStyle/>
          <a:p>
            <a:r>
              <a:rPr lang="en-US" dirty="0"/>
              <a:t>Let’s learn React</a:t>
            </a:r>
          </a:p>
        </p:txBody>
      </p:sp>
      <p:sp>
        <p:nvSpPr>
          <p:cNvPr id="3" name="Content Placeholder 2">
            <a:extLst>
              <a:ext uri="{FF2B5EF4-FFF2-40B4-BE49-F238E27FC236}">
                <a16:creationId xmlns:a16="http://schemas.microsoft.com/office/drawing/2014/main" id="{08A216A4-DE72-5FB5-37DB-F7131AA52934}"/>
              </a:ext>
            </a:extLst>
          </p:cNvPr>
          <p:cNvSpPr>
            <a:spLocks noGrp="1"/>
          </p:cNvSpPr>
          <p:nvPr>
            <p:ph idx="1"/>
          </p:nvPr>
        </p:nvSpPr>
        <p:spPr/>
        <p:txBody>
          <a:bodyPr/>
          <a:lstStyle/>
          <a:p>
            <a:r>
              <a:rPr lang="en-US" dirty="0"/>
              <a:t>In this lab, we will be walking through the quick start guide in </a:t>
            </a:r>
            <a:r>
              <a:rPr lang="en-US" dirty="0">
                <a:hlinkClick r:id="rId2"/>
              </a:rPr>
              <a:t>react.dev</a:t>
            </a:r>
            <a:endParaRPr lang="en-US" dirty="0"/>
          </a:p>
        </p:txBody>
      </p:sp>
    </p:spTree>
    <p:extLst>
      <p:ext uri="{BB962C8B-B14F-4D97-AF65-F5344CB8AC3E}">
        <p14:creationId xmlns:p14="http://schemas.microsoft.com/office/powerpoint/2010/main" val="3829319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1B4DD-15AC-2AFB-F2C7-5B78D24D8F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911C1-3F5E-9063-B6B1-84B6176DD389}"/>
              </a:ext>
            </a:extLst>
          </p:cNvPr>
          <p:cNvSpPr>
            <a:spLocks noGrp="1"/>
          </p:cNvSpPr>
          <p:nvPr>
            <p:ph type="title"/>
          </p:nvPr>
        </p:nvSpPr>
        <p:spPr/>
        <p:txBody>
          <a:bodyPr/>
          <a:lstStyle/>
          <a:p>
            <a:r>
              <a:rPr lang="en-US" dirty="0"/>
              <a:t>Let’s learn React – Components </a:t>
            </a:r>
          </a:p>
        </p:txBody>
      </p:sp>
      <p:sp>
        <p:nvSpPr>
          <p:cNvPr id="3" name="Content Placeholder 2">
            <a:extLst>
              <a:ext uri="{FF2B5EF4-FFF2-40B4-BE49-F238E27FC236}">
                <a16:creationId xmlns:a16="http://schemas.microsoft.com/office/drawing/2014/main" id="{37CB216D-A78E-FE00-FB89-C625E9D37218}"/>
              </a:ext>
            </a:extLst>
          </p:cNvPr>
          <p:cNvSpPr>
            <a:spLocks noGrp="1"/>
          </p:cNvSpPr>
          <p:nvPr>
            <p:ph idx="1"/>
          </p:nvPr>
        </p:nvSpPr>
        <p:spPr/>
        <p:txBody>
          <a:bodyPr/>
          <a:lstStyle/>
          <a:p>
            <a:r>
              <a:rPr lang="en-US" dirty="0"/>
              <a:t>React apps are made out of </a:t>
            </a:r>
            <a:r>
              <a:rPr lang="en-US" i="1" dirty="0"/>
              <a:t>components</a:t>
            </a:r>
            <a:r>
              <a:rPr lang="en-US" dirty="0"/>
              <a:t>. A component is a piece of the UI (user interface) that has its own logic and appearance. A component can be as small as a button, or as large as an entire page.</a:t>
            </a:r>
          </a:p>
          <a:p>
            <a:r>
              <a:rPr lang="en-US" dirty="0"/>
              <a:t>React components are JavaScript functions that return markup</a:t>
            </a:r>
          </a:p>
          <a:p>
            <a:endParaRPr lang="en-US" dirty="0"/>
          </a:p>
        </p:txBody>
      </p:sp>
    </p:spTree>
    <p:extLst>
      <p:ext uri="{BB962C8B-B14F-4D97-AF65-F5344CB8AC3E}">
        <p14:creationId xmlns:p14="http://schemas.microsoft.com/office/powerpoint/2010/main" val="1095011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257FB-2C4A-B80F-F163-83285CAA0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286DE-7651-FC3F-A7BB-C29FB7743FA2}"/>
              </a:ext>
            </a:extLst>
          </p:cNvPr>
          <p:cNvSpPr>
            <a:spLocks noGrp="1"/>
          </p:cNvSpPr>
          <p:nvPr>
            <p:ph type="title"/>
          </p:nvPr>
        </p:nvSpPr>
        <p:spPr/>
        <p:txBody>
          <a:bodyPr/>
          <a:lstStyle/>
          <a:p>
            <a:r>
              <a:rPr lang="en-US" dirty="0"/>
              <a:t>Let’s learn React</a:t>
            </a:r>
          </a:p>
        </p:txBody>
      </p:sp>
      <p:pic>
        <p:nvPicPr>
          <p:cNvPr id="7" name="Picture 6">
            <a:extLst>
              <a:ext uri="{FF2B5EF4-FFF2-40B4-BE49-F238E27FC236}">
                <a16:creationId xmlns:a16="http://schemas.microsoft.com/office/drawing/2014/main" id="{2443C0E3-5AC8-FF23-DB1F-D1961D124979}"/>
              </a:ext>
            </a:extLst>
          </p:cNvPr>
          <p:cNvPicPr>
            <a:picLocks noChangeAspect="1"/>
          </p:cNvPicPr>
          <p:nvPr/>
        </p:nvPicPr>
        <p:blipFill>
          <a:blip r:embed="rId2"/>
          <a:stretch>
            <a:fillRect/>
          </a:stretch>
        </p:blipFill>
        <p:spPr>
          <a:xfrm>
            <a:off x="838200" y="1690688"/>
            <a:ext cx="9154803" cy="4086795"/>
          </a:xfrm>
          <a:prstGeom prst="rect">
            <a:avLst/>
          </a:prstGeom>
        </p:spPr>
      </p:pic>
      <p:cxnSp>
        <p:nvCxnSpPr>
          <p:cNvPr id="11" name="Straight Arrow Connector 10">
            <a:extLst>
              <a:ext uri="{FF2B5EF4-FFF2-40B4-BE49-F238E27FC236}">
                <a16:creationId xmlns:a16="http://schemas.microsoft.com/office/drawing/2014/main" id="{0AB9D468-5AE6-775D-819A-C3BB86DA89DD}"/>
              </a:ext>
            </a:extLst>
          </p:cNvPr>
          <p:cNvCxnSpPr/>
          <p:nvPr/>
        </p:nvCxnSpPr>
        <p:spPr>
          <a:xfrm flipH="1">
            <a:off x="3372465" y="2979174"/>
            <a:ext cx="1229032" cy="8849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D831D90-AF54-DED2-DA8E-8373F45BECD7}"/>
              </a:ext>
            </a:extLst>
          </p:cNvPr>
          <p:cNvSpPr txBox="1"/>
          <p:nvPr/>
        </p:nvSpPr>
        <p:spPr>
          <a:xfrm>
            <a:off x="4709651" y="2674374"/>
            <a:ext cx="1887793" cy="646331"/>
          </a:xfrm>
          <a:prstGeom prst="rect">
            <a:avLst/>
          </a:prstGeom>
          <a:noFill/>
        </p:spPr>
        <p:txBody>
          <a:bodyPr wrap="square" rtlCol="0">
            <a:spAutoFit/>
          </a:bodyPr>
          <a:lstStyle/>
          <a:p>
            <a:r>
              <a:rPr lang="en-US" dirty="0">
                <a:solidFill>
                  <a:schemeClr val="bg1"/>
                </a:solidFill>
              </a:rPr>
              <a:t>React Component</a:t>
            </a:r>
          </a:p>
        </p:txBody>
      </p:sp>
      <p:sp>
        <p:nvSpPr>
          <p:cNvPr id="13" name="TextBox 12">
            <a:extLst>
              <a:ext uri="{FF2B5EF4-FFF2-40B4-BE49-F238E27FC236}">
                <a16:creationId xmlns:a16="http://schemas.microsoft.com/office/drawing/2014/main" id="{15D5BAED-B139-4075-F6AE-6BDFE2F5AD3A}"/>
              </a:ext>
            </a:extLst>
          </p:cNvPr>
          <p:cNvSpPr txBox="1"/>
          <p:nvPr/>
        </p:nvSpPr>
        <p:spPr>
          <a:xfrm>
            <a:off x="838200" y="6056671"/>
            <a:ext cx="9908458" cy="369332"/>
          </a:xfrm>
          <a:prstGeom prst="rect">
            <a:avLst/>
          </a:prstGeom>
          <a:noFill/>
        </p:spPr>
        <p:txBody>
          <a:bodyPr wrap="square" rtlCol="0">
            <a:spAutoFit/>
          </a:bodyPr>
          <a:lstStyle/>
          <a:p>
            <a:r>
              <a:rPr lang="en-US" dirty="0"/>
              <a:t>React components must start with capital letters to differentiate them from regular html tags</a:t>
            </a:r>
          </a:p>
        </p:txBody>
      </p:sp>
    </p:spTree>
    <p:extLst>
      <p:ext uri="{BB962C8B-B14F-4D97-AF65-F5344CB8AC3E}">
        <p14:creationId xmlns:p14="http://schemas.microsoft.com/office/powerpoint/2010/main" val="84854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33B73-44B1-EE9D-EA9F-0C13F6044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75BFE-6662-9270-2CC9-9E7270B2A736}"/>
              </a:ext>
            </a:extLst>
          </p:cNvPr>
          <p:cNvSpPr>
            <a:spLocks noGrp="1"/>
          </p:cNvSpPr>
          <p:nvPr>
            <p:ph type="title"/>
          </p:nvPr>
        </p:nvSpPr>
        <p:spPr/>
        <p:txBody>
          <a:bodyPr/>
          <a:lstStyle/>
          <a:p>
            <a:r>
              <a:rPr lang="en-US" dirty="0"/>
              <a:t>Let’s learn React – Styling </a:t>
            </a:r>
          </a:p>
        </p:txBody>
      </p:sp>
      <p:sp>
        <p:nvSpPr>
          <p:cNvPr id="3" name="Content Placeholder 2">
            <a:extLst>
              <a:ext uri="{FF2B5EF4-FFF2-40B4-BE49-F238E27FC236}">
                <a16:creationId xmlns:a16="http://schemas.microsoft.com/office/drawing/2014/main" id="{03020F9E-43DA-9E17-0227-479D16AA725F}"/>
              </a:ext>
            </a:extLst>
          </p:cNvPr>
          <p:cNvSpPr>
            <a:spLocks noGrp="1"/>
          </p:cNvSpPr>
          <p:nvPr>
            <p:ph idx="1"/>
          </p:nvPr>
        </p:nvSpPr>
        <p:spPr>
          <a:xfrm>
            <a:off x="838200" y="1825625"/>
            <a:ext cx="10515600" cy="1940130"/>
          </a:xfrm>
        </p:spPr>
        <p:txBody>
          <a:bodyPr/>
          <a:lstStyle/>
          <a:p>
            <a:r>
              <a:rPr lang="en-US" dirty="0"/>
              <a:t>React does not enforce a way to add styles to your components. You can create a .</a:t>
            </a:r>
            <a:r>
              <a:rPr lang="en-US" dirty="0" err="1"/>
              <a:t>css</a:t>
            </a:r>
            <a:r>
              <a:rPr lang="en-US" dirty="0"/>
              <a:t> file and import it or use inline style or use one of the many other ways to style in react.</a:t>
            </a:r>
          </a:p>
          <a:p>
            <a:r>
              <a:rPr lang="en-US" dirty="0"/>
              <a:t>For the sake of simplicity, let’s use inline styles for now.</a:t>
            </a:r>
          </a:p>
        </p:txBody>
      </p:sp>
    </p:spTree>
    <p:extLst>
      <p:ext uri="{BB962C8B-B14F-4D97-AF65-F5344CB8AC3E}">
        <p14:creationId xmlns:p14="http://schemas.microsoft.com/office/powerpoint/2010/main" val="3984322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AF428-47C2-D6F7-BA23-9BB35973E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8886A-F738-3B3E-96A1-3D1D3741746A}"/>
              </a:ext>
            </a:extLst>
          </p:cNvPr>
          <p:cNvSpPr>
            <a:spLocks noGrp="1"/>
          </p:cNvSpPr>
          <p:nvPr>
            <p:ph type="title"/>
          </p:nvPr>
        </p:nvSpPr>
        <p:spPr/>
        <p:txBody>
          <a:bodyPr/>
          <a:lstStyle/>
          <a:p>
            <a:r>
              <a:rPr lang="en-US" dirty="0"/>
              <a:t>Let’s learn React</a:t>
            </a:r>
          </a:p>
        </p:txBody>
      </p:sp>
      <p:pic>
        <p:nvPicPr>
          <p:cNvPr id="7" name="Picture 6">
            <a:extLst>
              <a:ext uri="{FF2B5EF4-FFF2-40B4-BE49-F238E27FC236}">
                <a16:creationId xmlns:a16="http://schemas.microsoft.com/office/drawing/2014/main" id="{78A25589-BF8F-9D5E-0F95-FA319B400D2D}"/>
              </a:ext>
            </a:extLst>
          </p:cNvPr>
          <p:cNvPicPr>
            <a:picLocks noChangeAspect="1"/>
          </p:cNvPicPr>
          <p:nvPr/>
        </p:nvPicPr>
        <p:blipFill>
          <a:blip r:embed="rId2"/>
          <a:stretch>
            <a:fillRect/>
          </a:stretch>
        </p:blipFill>
        <p:spPr>
          <a:xfrm>
            <a:off x="838200" y="1550748"/>
            <a:ext cx="10974332" cy="5163271"/>
          </a:xfrm>
          <a:prstGeom prst="rect">
            <a:avLst/>
          </a:prstGeom>
        </p:spPr>
      </p:pic>
      <p:sp>
        <p:nvSpPr>
          <p:cNvPr id="9" name="Rectangle 8">
            <a:extLst>
              <a:ext uri="{FF2B5EF4-FFF2-40B4-BE49-F238E27FC236}">
                <a16:creationId xmlns:a16="http://schemas.microsoft.com/office/drawing/2014/main" id="{C3B1F87A-BF38-E9B2-82F0-1D5942E729A9}"/>
              </a:ext>
            </a:extLst>
          </p:cNvPr>
          <p:cNvSpPr/>
          <p:nvPr/>
        </p:nvSpPr>
        <p:spPr>
          <a:xfrm>
            <a:off x="2674374" y="3303639"/>
            <a:ext cx="4916129" cy="35396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3871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9A50E-BDC1-D58F-AE2D-B2ABE002F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86104-B8B2-636F-4927-111290349B67}"/>
              </a:ext>
            </a:extLst>
          </p:cNvPr>
          <p:cNvSpPr>
            <a:spLocks noGrp="1"/>
          </p:cNvSpPr>
          <p:nvPr>
            <p:ph type="title"/>
          </p:nvPr>
        </p:nvSpPr>
        <p:spPr/>
        <p:txBody>
          <a:bodyPr/>
          <a:lstStyle/>
          <a:p>
            <a:r>
              <a:rPr lang="en-US" dirty="0"/>
              <a:t>Let’s learn React – Displaying Data</a:t>
            </a:r>
          </a:p>
        </p:txBody>
      </p:sp>
      <p:sp>
        <p:nvSpPr>
          <p:cNvPr id="3" name="Content Placeholder 2">
            <a:extLst>
              <a:ext uri="{FF2B5EF4-FFF2-40B4-BE49-F238E27FC236}">
                <a16:creationId xmlns:a16="http://schemas.microsoft.com/office/drawing/2014/main" id="{0AC29F1F-A5DF-A0C8-F0DC-F8DC97B164BC}"/>
              </a:ext>
            </a:extLst>
          </p:cNvPr>
          <p:cNvSpPr>
            <a:spLocks noGrp="1"/>
          </p:cNvSpPr>
          <p:nvPr>
            <p:ph idx="1"/>
          </p:nvPr>
        </p:nvSpPr>
        <p:spPr>
          <a:xfrm>
            <a:off x="838200" y="1825625"/>
            <a:ext cx="10515600" cy="1035562"/>
          </a:xfrm>
        </p:spPr>
        <p:txBody>
          <a:bodyPr>
            <a:normAutofit/>
          </a:bodyPr>
          <a:lstStyle/>
          <a:p>
            <a:r>
              <a:rPr lang="en-US" dirty="0"/>
              <a:t>Inside your markup section, you can run </a:t>
            </a:r>
            <a:r>
              <a:rPr lang="en-US" dirty="0" err="1"/>
              <a:t>javascript</a:t>
            </a:r>
            <a:r>
              <a:rPr lang="en-US" dirty="0"/>
              <a:t> using curly braces</a:t>
            </a:r>
          </a:p>
          <a:p>
            <a:endParaRPr lang="en-US" dirty="0"/>
          </a:p>
        </p:txBody>
      </p:sp>
    </p:spTree>
    <p:extLst>
      <p:ext uri="{BB962C8B-B14F-4D97-AF65-F5344CB8AC3E}">
        <p14:creationId xmlns:p14="http://schemas.microsoft.com/office/powerpoint/2010/main" val="3956865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0BF2A-6EEC-FCAA-7ADF-558DFA742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CBBF5-232C-A875-27E8-1718D43FB205}"/>
              </a:ext>
            </a:extLst>
          </p:cNvPr>
          <p:cNvSpPr>
            <a:spLocks noGrp="1"/>
          </p:cNvSpPr>
          <p:nvPr>
            <p:ph type="title"/>
          </p:nvPr>
        </p:nvSpPr>
        <p:spPr/>
        <p:txBody>
          <a:bodyPr/>
          <a:lstStyle/>
          <a:p>
            <a:r>
              <a:rPr lang="en-US" dirty="0"/>
              <a:t>Let’s learn React – Displaying Data</a:t>
            </a:r>
          </a:p>
        </p:txBody>
      </p:sp>
      <p:pic>
        <p:nvPicPr>
          <p:cNvPr id="7" name="Picture 6">
            <a:extLst>
              <a:ext uri="{FF2B5EF4-FFF2-40B4-BE49-F238E27FC236}">
                <a16:creationId xmlns:a16="http://schemas.microsoft.com/office/drawing/2014/main" id="{00351369-5194-1857-FB88-C5D86FE58C86}"/>
              </a:ext>
            </a:extLst>
          </p:cNvPr>
          <p:cNvPicPr>
            <a:picLocks noChangeAspect="1"/>
          </p:cNvPicPr>
          <p:nvPr/>
        </p:nvPicPr>
        <p:blipFill>
          <a:blip r:embed="rId2"/>
          <a:stretch>
            <a:fillRect/>
          </a:stretch>
        </p:blipFill>
        <p:spPr>
          <a:xfrm>
            <a:off x="838200" y="1456571"/>
            <a:ext cx="9631119" cy="5401429"/>
          </a:xfrm>
          <a:prstGeom prst="rect">
            <a:avLst/>
          </a:prstGeom>
        </p:spPr>
      </p:pic>
      <p:sp>
        <p:nvSpPr>
          <p:cNvPr id="8" name="Rectangle 7">
            <a:extLst>
              <a:ext uri="{FF2B5EF4-FFF2-40B4-BE49-F238E27FC236}">
                <a16:creationId xmlns:a16="http://schemas.microsoft.com/office/drawing/2014/main" id="{B424845D-31C3-B977-0B00-72FDE111D23E}"/>
              </a:ext>
            </a:extLst>
          </p:cNvPr>
          <p:cNvSpPr/>
          <p:nvPr/>
        </p:nvSpPr>
        <p:spPr>
          <a:xfrm>
            <a:off x="2123768" y="3677265"/>
            <a:ext cx="639097" cy="344129"/>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21860DF-D4F3-7360-2A3D-AE287D6AAB7A}"/>
              </a:ext>
            </a:extLst>
          </p:cNvPr>
          <p:cNvSpPr/>
          <p:nvPr/>
        </p:nvSpPr>
        <p:spPr>
          <a:xfrm>
            <a:off x="1720645" y="2989006"/>
            <a:ext cx="1966452" cy="344129"/>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6180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D5544-4AC5-0011-C956-1B0C8258C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2F44C-4C66-BD82-B68A-FA703F9C4ACD}"/>
              </a:ext>
            </a:extLst>
          </p:cNvPr>
          <p:cNvSpPr>
            <a:spLocks noGrp="1"/>
          </p:cNvSpPr>
          <p:nvPr>
            <p:ph type="title"/>
          </p:nvPr>
        </p:nvSpPr>
        <p:spPr/>
        <p:txBody>
          <a:bodyPr/>
          <a:lstStyle/>
          <a:p>
            <a:r>
              <a:rPr lang="en-US" dirty="0"/>
              <a:t>Let’s learn React – Displaying Data</a:t>
            </a:r>
          </a:p>
        </p:txBody>
      </p:sp>
      <p:sp>
        <p:nvSpPr>
          <p:cNvPr id="3" name="Content Placeholder 2">
            <a:extLst>
              <a:ext uri="{FF2B5EF4-FFF2-40B4-BE49-F238E27FC236}">
                <a16:creationId xmlns:a16="http://schemas.microsoft.com/office/drawing/2014/main" id="{51C43B8D-D5A9-A955-4D5A-889509D1AEC8}"/>
              </a:ext>
            </a:extLst>
          </p:cNvPr>
          <p:cNvSpPr>
            <a:spLocks noGrp="1"/>
          </p:cNvSpPr>
          <p:nvPr>
            <p:ph idx="1"/>
          </p:nvPr>
        </p:nvSpPr>
        <p:spPr>
          <a:xfrm>
            <a:off x="838200" y="1825625"/>
            <a:ext cx="10515600" cy="1035562"/>
          </a:xfrm>
        </p:spPr>
        <p:txBody>
          <a:bodyPr>
            <a:normAutofit/>
          </a:bodyPr>
          <a:lstStyle/>
          <a:p>
            <a:pPr marL="0" indent="0">
              <a:buNone/>
            </a:pPr>
            <a:r>
              <a:rPr lang="en-US" dirty="0"/>
              <a:t>Let’s try something more complex like displaying a list</a:t>
            </a:r>
          </a:p>
        </p:txBody>
      </p:sp>
    </p:spTree>
    <p:extLst>
      <p:ext uri="{BB962C8B-B14F-4D97-AF65-F5344CB8AC3E}">
        <p14:creationId xmlns:p14="http://schemas.microsoft.com/office/powerpoint/2010/main" val="43140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60538-2AAB-198F-CD11-C4344530EF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BAC11-60DA-EBEE-B0E9-C85056EB1BEF}"/>
              </a:ext>
            </a:extLst>
          </p:cNvPr>
          <p:cNvSpPr>
            <a:spLocks noGrp="1"/>
          </p:cNvSpPr>
          <p:nvPr>
            <p:ph type="title"/>
          </p:nvPr>
        </p:nvSpPr>
        <p:spPr/>
        <p:txBody>
          <a:bodyPr/>
          <a:lstStyle/>
          <a:p>
            <a:r>
              <a:rPr lang="en-US" dirty="0"/>
              <a:t>Let’s learn React – Displaying Data</a:t>
            </a:r>
          </a:p>
        </p:txBody>
      </p:sp>
      <p:pic>
        <p:nvPicPr>
          <p:cNvPr id="7" name="Picture 6">
            <a:extLst>
              <a:ext uri="{FF2B5EF4-FFF2-40B4-BE49-F238E27FC236}">
                <a16:creationId xmlns:a16="http://schemas.microsoft.com/office/drawing/2014/main" id="{E6615D28-4A34-E82E-4332-C523E76CB4A4}"/>
              </a:ext>
            </a:extLst>
          </p:cNvPr>
          <p:cNvPicPr>
            <a:picLocks noChangeAspect="1"/>
          </p:cNvPicPr>
          <p:nvPr/>
        </p:nvPicPr>
        <p:blipFill>
          <a:blip r:embed="rId2"/>
          <a:stretch>
            <a:fillRect/>
          </a:stretch>
        </p:blipFill>
        <p:spPr>
          <a:xfrm>
            <a:off x="838200" y="1690688"/>
            <a:ext cx="8507012" cy="4677428"/>
          </a:xfrm>
          <a:prstGeom prst="rect">
            <a:avLst/>
          </a:prstGeom>
        </p:spPr>
      </p:pic>
    </p:spTree>
    <p:extLst>
      <p:ext uri="{BB962C8B-B14F-4D97-AF65-F5344CB8AC3E}">
        <p14:creationId xmlns:p14="http://schemas.microsoft.com/office/powerpoint/2010/main" val="3184241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D0A2E-7B85-E381-29AE-3CC85FA7E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F8969-3982-88E5-1DB2-725AC3FE5726}"/>
              </a:ext>
            </a:extLst>
          </p:cNvPr>
          <p:cNvSpPr>
            <a:spLocks noGrp="1"/>
          </p:cNvSpPr>
          <p:nvPr>
            <p:ph type="title"/>
          </p:nvPr>
        </p:nvSpPr>
        <p:spPr/>
        <p:txBody>
          <a:bodyPr/>
          <a:lstStyle/>
          <a:p>
            <a:r>
              <a:rPr lang="en-US" dirty="0"/>
              <a:t>Let’s learn React – Displaying Data</a:t>
            </a:r>
          </a:p>
        </p:txBody>
      </p:sp>
      <p:sp>
        <p:nvSpPr>
          <p:cNvPr id="3" name="Content Placeholder 2">
            <a:extLst>
              <a:ext uri="{FF2B5EF4-FFF2-40B4-BE49-F238E27FC236}">
                <a16:creationId xmlns:a16="http://schemas.microsoft.com/office/drawing/2014/main" id="{AF8AA626-D2DB-B0F4-02CD-B052D73F0BBA}"/>
              </a:ext>
            </a:extLst>
          </p:cNvPr>
          <p:cNvSpPr>
            <a:spLocks noGrp="1"/>
          </p:cNvSpPr>
          <p:nvPr>
            <p:ph idx="1"/>
          </p:nvPr>
        </p:nvSpPr>
        <p:spPr>
          <a:xfrm>
            <a:off x="838200" y="1825625"/>
            <a:ext cx="10515600" cy="1035562"/>
          </a:xfrm>
        </p:spPr>
        <p:txBody>
          <a:bodyPr>
            <a:normAutofit/>
          </a:bodyPr>
          <a:lstStyle/>
          <a:p>
            <a:pPr marL="0" indent="0">
              <a:buNone/>
            </a:pPr>
            <a:r>
              <a:rPr lang="en-US" dirty="0"/>
              <a:t>We can even conditionally render components</a:t>
            </a:r>
          </a:p>
        </p:txBody>
      </p:sp>
    </p:spTree>
    <p:extLst>
      <p:ext uri="{BB962C8B-B14F-4D97-AF65-F5344CB8AC3E}">
        <p14:creationId xmlns:p14="http://schemas.microsoft.com/office/powerpoint/2010/main" val="2154870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5F532-F4FE-9C5B-7E06-A40BADA14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102FC0-D0CB-5E24-855F-AF5505E3C3BB}"/>
              </a:ext>
            </a:extLst>
          </p:cNvPr>
          <p:cNvSpPr>
            <a:spLocks noGrp="1"/>
          </p:cNvSpPr>
          <p:nvPr>
            <p:ph type="title"/>
          </p:nvPr>
        </p:nvSpPr>
        <p:spPr/>
        <p:txBody>
          <a:bodyPr/>
          <a:lstStyle/>
          <a:p>
            <a:r>
              <a:rPr lang="en-US" dirty="0"/>
              <a:t>Let’s learn React – Displaying Data</a:t>
            </a:r>
          </a:p>
        </p:txBody>
      </p:sp>
      <p:pic>
        <p:nvPicPr>
          <p:cNvPr id="7" name="Picture 6">
            <a:extLst>
              <a:ext uri="{FF2B5EF4-FFF2-40B4-BE49-F238E27FC236}">
                <a16:creationId xmlns:a16="http://schemas.microsoft.com/office/drawing/2014/main" id="{EC08AEEB-EDD3-694B-0503-32AE2AD2B748}"/>
              </a:ext>
            </a:extLst>
          </p:cNvPr>
          <p:cNvPicPr>
            <a:picLocks noChangeAspect="1"/>
          </p:cNvPicPr>
          <p:nvPr/>
        </p:nvPicPr>
        <p:blipFill>
          <a:blip r:embed="rId2"/>
          <a:stretch>
            <a:fillRect/>
          </a:stretch>
        </p:blipFill>
        <p:spPr>
          <a:xfrm>
            <a:off x="838200" y="1690688"/>
            <a:ext cx="9688277" cy="4648849"/>
          </a:xfrm>
          <a:prstGeom prst="rect">
            <a:avLst/>
          </a:prstGeom>
        </p:spPr>
      </p:pic>
    </p:spTree>
    <p:extLst>
      <p:ext uri="{BB962C8B-B14F-4D97-AF65-F5344CB8AC3E}">
        <p14:creationId xmlns:p14="http://schemas.microsoft.com/office/powerpoint/2010/main" val="3099049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80532-A5BD-4B46-8EDB-10C64593C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FCDAA6-1847-A3D8-7F6C-5FA7B2D35091}"/>
              </a:ext>
            </a:extLst>
          </p:cNvPr>
          <p:cNvSpPr>
            <a:spLocks noGrp="1"/>
          </p:cNvSpPr>
          <p:nvPr>
            <p:ph type="title"/>
          </p:nvPr>
        </p:nvSpPr>
        <p:spPr/>
        <p:txBody>
          <a:bodyPr/>
          <a:lstStyle/>
          <a:p>
            <a:r>
              <a:rPr lang="en-US" dirty="0"/>
              <a:t>Let’s learn React – Updating the screen</a:t>
            </a:r>
          </a:p>
        </p:txBody>
      </p:sp>
      <p:sp>
        <p:nvSpPr>
          <p:cNvPr id="3" name="Content Placeholder 2">
            <a:extLst>
              <a:ext uri="{FF2B5EF4-FFF2-40B4-BE49-F238E27FC236}">
                <a16:creationId xmlns:a16="http://schemas.microsoft.com/office/drawing/2014/main" id="{E65DBD18-6AF4-0565-F985-8F055763CC29}"/>
              </a:ext>
            </a:extLst>
          </p:cNvPr>
          <p:cNvSpPr>
            <a:spLocks noGrp="1"/>
          </p:cNvSpPr>
          <p:nvPr>
            <p:ph idx="1"/>
          </p:nvPr>
        </p:nvSpPr>
        <p:spPr>
          <a:xfrm>
            <a:off x="838200" y="1825624"/>
            <a:ext cx="10515600" cy="4667251"/>
          </a:xfrm>
        </p:spPr>
        <p:txBody>
          <a:bodyPr>
            <a:normAutofit/>
          </a:bodyPr>
          <a:lstStyle/>
          <a:p>
            <a:r>
              <a:rPr lang="en-US" dirty="0"/>
              <a:t>Often, you’ll want your component to “remember” some information and display it</a:t>
            </a:r>
          </a:p>
          <a:p>
            <a:r>
              <a:rPr lang="en-US" dirty="0"/>
              <a:t>For example: in our to do app, that was the content of the list. In the calculator, that the value displayed on the screen</a:t>
            </a:r>
          </a:p>
          <a:p>
            <a:r>
              <a:rPr lang="en-US" dirty="0"/>
              <a:t>To do this in React, we use </a:t>
            </a:r>
            <a:r>
              <a:rPr lang="en-US" b="1" dirty="0" err="1"/>
              <a:t>useState</a:t>
            </a:r>
            <a:endParaRPr lang="en-US" b="1" dirty="0"/>
          </a:p>
          <a:p>
            <a:r>
              <a:rPr lang="en-US" dirty="0"/>
              <a:t>You’ll get two things from </a:t>
            </a:r>
            <a:r>
              <a:rPr lang="en-US" dirty="0" err="1"/>
              <a:t>useState</a:t>
            </a:r>
            <a:r>
              <a:rPr lang="en-US" dirty="0"/>
              <a:t>: the current state (count), and the function that lets you update it (</a:t>
            </a:r>
            <a:r>
              <a:rPr lang="en-US" dirty="0" err="1"/>
              <a:t>setCount</a:t>
            </a:r>
            <a:r>
              <a:rPr lang="en-US" dirty="0"/>
              <a:t>). You can give them any names, but the convention is to write [something, </a:t>
            </a:r>
            <a:r>
              <a:rPr lang="en-US" dirty="0" err="1"/>
              <a:t>setSomething</a:t>
            </a:r>
            <a:r>
              <a:rPr lang="en-US" dirty="0"/>
              <a:t>]</a:t>
            </a:r>
          </a:p>
          <a:p>
            <a:endParaRPr lang="en-US" b="1" dirty="0"/>
          </a:p>
          <a:p>
            <a:endParaRPr lang="en-US" b="1" dirty="0"/>
          </a:p>
          <a:p>
            <a:pPr marL="0" indent="0">
              <a:buNone/>
            </a:pPr>
            <a:endParaRPr lang="en-US" dirty="0"/>
          </a:p>
        </p:txBody>
      </p:sp>
    </p:spTree>
    <p:extLst>
      <p:ext uri="{BB962C8B-B14F-4D97-AF65-F5344CB8AC3E}">
        <p14:creationId xmlns:p14="http://schemas.microsoft.com/office/powerpoint/2010/main" val="1540584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C6342-6ED5-08BF-714F-DA0D8FDFD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10D48-ABB0-041C-0609-1F4D9476A9DB}"/>
              </a:ext>
            </a:extLst>
          </p:cNvPr>
          <p:cNvSpPr>
            <a:spLocks noGrp="1"/>
          </p:cNvSpPr>
          <p:nvPr>
            <p:ph type="title"/>
          </p:nvPr>
        </p:nvSpPr>
        <p:spPr/>
        <p:txBody>
          <a:bodyPr/>
          <a:lstStyle/>
          <a:p>
            <a:r>
              <a:rPr lang="en-US" dirty="0"/>
              <a:t>Let’s learn React – Displaying Data</a:t>
            </a:r>
          </a:p>
        </p:txBody>
      </p:sp>
      <p:pic>
        <p:nvPicPr>
          <p:cNvPr id="4" name="Picture 3">
            <a:extLst>
              <a:ext uri="{FF2B5EF4-FFF2-40B4-BE49-F238E27FC236}">
                <a16:creationId xmlns:a16="http://schemas.microsoft.com/office/drawing/2014/main" id="{EDFB53E7-320D-8C4C-5A2A-19A8FC45D23A}"/>
              </a:ext>
            </a:extLst>
          </p:cNvPr>
          <p:cNvPicPr>
            <a:picLocks noChangeAspect="1"/>
          </p:cNvPicPr>
          <p:nvPr/>
        </p:nvPicPr>
        <p:blipFill>
          <a:blip r:embed="rId2"/>
          <a:stretch>
            <a:fillRect/>
          </a:stretch>
        </p:blipFill>
        <p:spPr>
          <a:xfrm>
            <a:off x="180149" y="61442"/>
            <a:ext cx="11831701" cy="6735115"/>
          </a:xfrm>
          <a:prstGeom prst="rect">
            <a:avLst/>
          </a:prstGeom>
        </p:spPr>
      </p:pic>
    </p:spTree>
    <p:extLst>
      <p:ext uri="{BB962C8B-B14F-4D97-AF65-F5344CB8AC3E}">
        <p14:creationId xmlns:p14="http://schemas.microsoft.com/office/powerpoint/2010/main" val="3358527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E4B99-8601-7978-BD1B-E6827A807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C5C7C-3298-7FE4-0331-7826BEFBC55B}"/>
              </a:ext>
            </a:extLst>
          </p:cNvPr>
          <p:cNvSpPr>
            <a:spLocks noGrp="1"/>
          </p:cNvSpPr>
          <p:nvPr>
            <p:ph type="title"/>
          </p:nvPr>
        </p:nvSpPr>
        <p:spPr/>
        <p:txBody>
          <a:bodyPr/>
          <a:lstStyle/>
          <a:p>
            <a:r>
              <a:rPr lang="en-US" dirty="0"/>
              <a:t>Let’s learn React – Updating the screen</a:t>
            </a:r>
          </a:p>
        </p:txBody>
      </p:sp>
      <p:sp>
        <p:nvSpPr>
          <p:cNvPr id="3" name="Content Placeholder 2">
            <a:extLst>
              <a:ext uri="{FF2B5EF4-FFF2-40B4-BE49-F238E27FC236}">
                <a16:creationId xmlns:a16="http://schemas.microsoft.com/office/drawing/2014/main" id="{E883D1CC-9B4E-DF91-E285-3F10B880246B}"/>
              </a:ext>
            </a:extLst>
          </p:cNvPr>
          <p:cNvSpPr>
            <a:spLocks noGrp="1"/>
          </p:cNvSpPr>
          <p:nvPr>
            <p:ph idx="1"/>
          </p:nvPr>
        </p:nvSpPr>
        <p:spPr>
          <a:xfrm>
            <a:off x="838200" y="1825624"/>
            <a:ext cx="10515600" cy="5032376"/>
          </a:xfrm>
        </p:spPr>
        <p:txBody>
          <a:bodyPr>
            <a:normAutofit/>
          </a:bodyPr>
          <a:lstStyle/>
          <a:p>
            <a:r>
              <a:rPr lang="en-US" b="1" dirty="0"/>
              <a:t>Recall: </a:t>
            </a:r>
            <a:r>
              <a:rPr lang="en-US" dirty="0"/>
              <a:t>Before, if we wanted to update the screen, we used to get the element and manually set its content. For example, your render function in the to do app or display in the calculator</a:t>
            </a:r>
            <a:endParaRPr lang="en-US" b="1" dirty="0"/>
          </a:p>
          <a:p>
            <a:r>
              <a:rPr lang="en-US" dirty="0"/>
              <a:t>In React, we do this by </a:t>
            </a:r>
            <a:r>
              <a:rPr lang="en-US" b="1" dirty="0"/>
              <a:t>simply updating the state variable </a:t>
            </a:r>
            <a:r>
              <a:rPr lang="en-US" dirty="0"/>
              <a:t>and </a:t>
            </a:r>
            <a:r>
              <a:rPr lang="en-US" b="1" dirty="0"/>
              <a:t>react automatically handles updating the UI</a:t>
            </a:r>
          </a:p>
          <a:p>
            <a:r>
              <a:rPr lang="en-US" dirty="0"/>
              <a:t>We declared that the count variable should be displayed inside the button. When it’s updated, React automatically re-renders the component and therefore updates the screen</a:t>
            </a:r>
          </a:p>
          <a:p>
            <a:r>
              <a:rPr lang="en-US" dirty="0"/>
              <a:t>This style for programming is called </a:t>
            </a:r>
            <a:r>
              <a:rPr lang="en-US" b="1" dirty="0"/>
              <a:t>Declarative Programming</a:t>
            </a:r>
            <a:r>
              <a:rPr lang="en-US" dirty="0"/>
              <a:t>. You declare what the end result should be, but you don’t worry how it will be achieved</a:t>
            </a:r>
          </a:p>
        </p:txBody>
      </p:sp>
    </p:spTree>
    <p:extLst>
      <p:ext uri="{BB962C8B-B14F-4D97-AF65-F5344CB8AC3E}">
        <p14:creationId xmlns:p14="http://schemas.microsoft.com/office/powerpoint/2010/main" val="2675226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0663B-1C7F-B42B-45F6-C6DBB930A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16BB3-2002-C3A4-CEE9-C852198A1E74}"/>
              </a:ext>
            </a:extLst>
          </p:cNvPr>
          <p:cNvSpPr>
            <a:spLocks noGrp="1"/>
          </p:cNvSpPr>
          <p:nvPr>
            <p:ph type="title"/>
          </p:nvPr>
        </p:nvSpPr>
        <p:spPr/>
        <p:txBody>
          <a:bodyPr/>
          <a:lstStyle/>
          <a:p>
            <a:r>
              <a:rPr lang="en-US" dirty="0"/>
              <a:t>Let’s learn React – Sharing data between components</a:t>
            </a:r>
          </a:p>
        </p:txBody>
      </p:sp>
      <p:sp>
        <p:nvSpPr>
          <p:cNvPr id="3" name="Content Placeholder 2">
            <a:extLst>
              <a:ext uri="{FF2B5EF4-FFF2-40B4-BE49-F238E27FC236}">
                <a16:creationId xmlns:a16="http://schemas.microsoft.com/office/drawing/2014/main" id="{E3091E6F-61C9-2A17-F3B1-1F650E6CF54D}"/>
              </a:ext>
            </a:extLst>
          </p:cNvPr>
          <p:cNvSpPr>
            <a:spLocks noGrp="1"/>
          </p:cNvSpPr>
          <p:nvPr>
            <p:ph idx="1"/>
          </p:nvPr>
        </p:nvSpPr>
        <p:spPr>
          <a:xfrm>
            <a:off x="838200" y="1825624"/>
            <a:ext cx="10515600" cy="5032376"/>
          </a:xfrm>
        </p:spPr>
        <p:txBody>
          <a:bodyPr>
            <a:normAutofit/>
          </a:bodyPr>
          <a:lstStyle/>
          <a:p>
            <a:r>
              <a:rPr lang="en-US" dirty="0"/>
              <a:t>In the previous example, the count state/variable was inside the button component</a:t>
            </a:r>
          </a:p>
          <a:p>
            <a:r>
              <a:rPr lang="en-US" dirty="0"/>
              <a:t>That means that no one can access it from outside the button</a:t>
            </a:r>
          </a:p>
          <a:p>
            <a:r>
              <a:rPr lang="en-US" dirty="0"/>
              <a:t>What if we want to have 2 buttons, one for increment and one for decrement</a:t>
            </a:r>
          </a:p>
          <a:p>
            <a:r>
              <a:rPr lang="en-US" dirty="0"/>
              <a:t>We use props… Props are basically passing arguments to the component</a:t>
            </a:r>
          </a:p>
          <a:p>
            <a:r>
              <a:rPr lang="en-US" dirty="0"/>
              <a:t>Let’s see how we can achieve the counter increment/decrement</a:t>
            </a:r>
          </a:p>
        </p:txBody>
      </p:sp>
    </p:spTree>
    <p:extLst>
      <p:ext uri="{BB962C8B-B14F-4D97-AF65-F5344CB8AC3E}">
        <p14:creationId xmlns:p14="http://schemas.microsoft.com/office/powerpoint/2010/main" val="3271142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050A9-932F-88DB-30C0-D88FF4ECC71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465C744-C230-46BA-C0EC-FCE970BBBD5A}"/>
              </a:ext>
            </a:extLst>
          </p:cNvPr>
          <p:cNvPicPr>
            <a:picLocks noChangeAspect="1"/>
          </p:cNvPicPr>
          <p:nvPr/>
        </p:nvPicPr>
        <p:blipFill>
          <a:blip r:embed="rId2"/>
          <a:stretch>
            <a:fillRect/>
          </a:stretch>
        </p:blipFill>
        <p:spPr>
          <a:xfrm>
            <a:off x="5324657" y="0"/>
            <a:ext cx="6867343" cy="6858000"/>
          </a:xfrm>
          <a:prstGeom prst="rect">
            <a:avLst/>
          </a:prstGeom>
        </p:spPr>
      </p:pic>
      <p:sp>
        <p:nvSpPr>
          <p:cNvPr id="10" name="TextBox 9">
            <a:extLst>
              <a:ext uri="{FF2B5EF4-FFF2-40B4-BE49-F238E27FC236}">
                <a16:creationId xmlns:a16="http://schemas.microsoft.com/office/drawing/2014/main" id="{330819BE-E68F-44AB-DC41-B34BFA06F8FF}"/>
              </a:ext>
            </a:extLst>
          </p:cNvPr>
          <p:cNvSpPr txBox="1"/>
          <p:nvPr/>
        </p:nvSpPr>
        <p:spPr>
          <a:xfrm>
            <a:off x="393290" y="1278194"/>
            <a:ext cx="3982065" cy="2585323"/>
          </a:xfrm>
          <a:prstGeom prst="rect">
            <a:avLst/>
          </a:prstGeom>
          <a:noFill/>
        </p:spPr>
        <p:txBody>
          <a:bodyPr wrap="square" rtlCol="0">
            <a:spAutoFit/>
          </a:bodyPr>
          <a:lstStyle/>
          <a:p>
            <a:r>
              <a:rPr lang="en-US" dirty="0"/>
              <a:t>Each component is called with a parameter called “props”. This parameter will contain what ever you pass down when you call the component from the parent.</a:t>
            </a:r>
          </a:p>
          <a:p>
            <a:endParaRPr lang="en-US" dirty="0"/>
          </a:p>
          <a:p>
            <a:r>
              <a:rPr lang="en-US" dirty="0"/>
              <a:t>Here we included the count variable and a callback function to handle the button click</a:t>
            </a:r>
          </a:p>
        </p:txBody>
      </p:sp>
      <p:sp>
        <p:nvSpPr>
          <p:cNvPr id="13" name="Rectangle 12">
            <a:extLst>
              <a:ext uri="{FF2B5EF4-FFF2-40B4-BE49-F238E27FC236}">
                <a16:creationId xmlns:a16="http://schemas.microsoft.com/office/drawing/2014/main" id="{8CB475F5-6D2F-9759-0D48-68FE8EFF8E3B}"/>
              </a:ext>
            </a:extLst>
          </p:cNvPr>
          <p:cNvSpPr/>
          <p:nvPr/>
        </p:nvSpPr>
        <p:spPr>
          <a:xfrm>
            <a:off x="7104185" y="5692876"/>
            <a:ext cx="3024553" cy="25574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40FB840-D53C-21CA-1AA2-AD438496A704}"/>
              </a:ext>
            </a:extLst>
          </p:cNvPr>
          <p:cNvSpPr/>
          <p:nvPr/>
        </p:nvSpPr>
        <p:spPr>
          <a:xfrm>
            <a:off x="7173011" y="5948623"/>
            <a:ext cx="3258769" cy="25574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6797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E2F96-D742-9533-8EDD-3A0A8B89B9C5}"/>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D69B0EE6-2085-3D97-B1B8-61F266A5B776}"/>
              </a:ext>
            </a:extLst>
          </p:cNvPr>
          <p:cNvSpPr txBox="1"/>
          <p:nvPr/>
        </p:nvSpPr>
        <p:spPr>
          <a:xfrm>
            <a:off x="393290" y="1278194"/>
            <a:ext cx="3982065" cy="923330"/>
          </a:xfrm>
          <a:prstGeom prst="rect">
            <a:avLst/>
          </a:prstGeom>
          <a:noFill/>
        </p:spPr>
        <p:txBody>
          <a:bodyPr wrap="square" rtlCol="0">
            <a:spAutoFit/>
          </a:bodyPr>
          <a:lstStyle/>
          <a:p>
            <a:r>
              <a:rPr lang="en-US" dirty="0"/>
              <a:t>You can </a:t>
            </a:r>
            <a:r>
              <a:rPr lang="en-US" dirty="0" err="1"/>
              <a:t>destructure</a:t>
            </a:r>
            <a:r>
              <a:rPr lang="en-US" dirty="0"/>
              <a:t> the received props like so -&gt;</a:t>
            </a:r>
          </a:p>
          <a:p>
            <a:endParaRPr lang="en-US" dirty="0"/>
          </a:p>
        </p:txBody>
      </p:sp>
      <p:pic>
        <p:nvPicPr>
          <p:cNvPr id="3" name="Picture 2">
            <a:extLst>
              <a:ext uri="{FF2B5EF4-FFF2-40B4-BE49-F238E27FC236}">
                <a16:creationId xmlns:a16="http://schemas.microsoft.com/office/drawing/2014/main" id="{7F93ACBC-EA04-9311-203B-9C14E8402147}"/>
              </a:ext>
            </a:extLst>
          </p:cNvPr>
          <p:cNvPicPr>
            <a:picLocks noChangeAspect="1"/>
          </p:cNvPicPr>
          <p:nvPr/>
        </p:nvPicPr>
        <p:blipFill>
          <a:blip r:embed="rId2"/>
          <a:stretch>
            <a:fillRect/>
          </a:stretch>
        </p:blipFill>
        <p:spPr>
          <a:xfrm>
            <a:off x="4930048" y="0"/>
            <a:ext cx="7261952" cy="6858000"/>
          </a:xfrm>
          <a:prstGeom prst="rect">
            <a:avLst/>
          </a:prstGeom>
        </p:spPr>
      </p:pic>
      <p:sp>
        <p:nvSpPr>
          <p:cNvPr id="4" name="Rectangle 3">
            <a:extLst>
              <a:ext uri="{FF2B5EF4-FFF2-40B4-BE49-F238E27FC236}">
                <a16:creationId xmlns:a16="http://schemas.microsoft.com/office/drawing/2014/main" id="{D3B640D2-85A9-4A2F-97F5-A23E7F173269}"/>
              </a:ext>
            </a:extLst>
          </p:cNvPr>
          <p:cNvSpPr/>
          <p:nvPr/>
        </p:nvSpPr>
        <p:spPr>
          <a:xfrm>
            <a:off x="7315200" y="1004835"/>
            <a:ext cx="1708220" cy="38183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EF36AB-47CC-6F7B-123F-2D56C245C2FF}"/>
              </a:ext>
            </a:extLst>
          </p:cNvPr>
          <p:cNvSpPr/>
          <p:nvPr/>
        </p:nvSpPr>
        <p:spPr>
          <a:xfrm>
            <a:off x="7467600" y="1826547"/>
            <a:ext cx="1708220" cy="38183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9220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FE8D4-B2D8-D432-43F3-43BBDAA9E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D8525-AA58-18F2-57B7-97A0E0E419CD}"/>
              </a:ext>
            </a:extLst>
          </p:cNvPr>
          <p:cNvSpPr>
            <a:spLocks noGrp="1"/>
          </p:cNvSpPr>
          <p:nvPr>
            <p:ph type="title"/>
          </p:nvPr>
        </p:nvSpPr>
        <p:spPr/>
        <p:txBody>
          <a:bodyPr/>
          <a:lstStyle/>
          <a:p>
            <a:r>
              <a:rPr lang="en-US" dirty="0"/>
              <a:t>Why React?</a:t>
            </a:r>
          </a:p>
        </p:txBody>
      </p:sp>
      <p:sp>
        <p:nvSpPr>
          <p:cNvPr id="3" name="Content Placeholder 2">
            <a:extLst>
              <a:ext uri="{FF2B5EF4-FFF2-40B4-BE49-F238E27FC236}">
                <a16:creationId xmlns:a16="http://schemas.microsoft.com/office/drawing/2014/main" id="{AB25426C-43AC-E0A7-2D59-F993002B41C8}"/>
              </a:ext>
            </a:extLst>
          </p:cNvPr>
          <p:cNvSpPr>
            <a:spLocks noGrp="1"/>
          </p:cNvSpPr>
          <p:nvPr>
            <p:ph idx="1"/>
          </p:nvPr>
        </p:nvSpPr>
        <p:spPr>
          <a:xfrm>
            <a:off x="838200" y="1825624"/>
            <a:ext cx="10515600" cy="5032376"/>
          </a:xfrm>
        </p:spPr>
        <p:txBody>
          <a:bodyPr>
            <a:normAutofit/>
          </a:bodyPr>
          <a:lstStyle/>
          <a:p>
            <a:pPr marL="0" indent="0">
              <a:buNone/>
            </a:pPr>
            <a:r>
              <a:rPr lang="en-US" dirty="0"/>
              <a:t>Now let’s answer this question from what we understood:</a:t>
            </a:r>
          </a:p>
          <a:p>
            <a:pPr marL="514350" indent="-514350">
              <a:buFont typeface="+mj-lt"/>
              <a:buAutoNum type="arabicPeriod"/>
            </a:pPr>
            <a:r>
              <a:rPr lang="en-US" dirty="0"/>
              <a:t>React allows us to write components once and reuse them everywhere. Companies create their UI library of React components and frontend </a:t>
            </a:r>
            <a:r>
              <a:rPr lang="en-US" dirty="0" err="1"/>
              <a:t>devs</a:t>
            </a:r>
            <a:r>
              <a:rPr lang="en-US" dirty="0"/>
              <a:t> compose the UI from these components. Now that’s scalable!</a:t>
            </a:r>
          </a:p>
          <a:p>
            <a:pPr marL="514350" indent="-514350">
              <a:buFont typeface="+mj-lt"/>
              <a:buAutoNum type="arabicPeriod"/>
            </a:pPr>
            <a:r>
              <a:rPr lang="en-US" dirty="0"/>
              <a:t>Declarative programming: no need to worry about manually updating the UI</a:t>
            </a:r>
          </a:p>
          <a:p>
            <a:pPr marL="514350" indent="-514350">
              <a:buFont typeface="+mj-lt"/>
              <a:buAutoNum type="arabicPeriod"/>
            </a:pPr>
            <a:r>
              <a:rPr lang="en-US" dirty="0"/>
              <a:t>Huge ecosystem of libraries that can save you a lot of work</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232260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42963-8DDE-91AA-0226-30BD552F7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EDA07-8467-6BC2-74AD-6A7258FF6E1C}"/>
              </a:ext>
            </a:extLst>
          </p:cNvPr>
          <p:cNvSpPr>
            <a:spLocks noGrp="1"/>
          </p:cNvSpPr>
          <p:nvPr>
            <p:ph type="title"/>
          </p:nvPr>
        </p:nvSpPr>
        <p:spPr/>
        <p:txBody>
          <a:bodyPr/>
          <a:lstStyle/>
          <a:p>
            <a:r>
              <a:rPr lang="en-US" dirty="0"/>
              <a:t>Lab task</a:t>
            </a:r>
          </a:p>
        </p:txBody>
      </p:sp>
      <p:sp>
        <p:nvSpPr>
          <p:cNvPr id="3" name="Content Placeholder 2">
            <a:extLst>
              <a:ext uri="{FF2B5EF4-FFF2-40B4-BE49-F238E27FC236}">
                <a16:creationId xmlns:a16="http://schemas.microsoft.com/office/drawing/2014/main" id="{2BEC9FA4-0647-000F-A12D-4AF3F2FD952D}"/>
              </a:ext>
            </a:extLst>
          </p:cNvPr>
          <p:cNvSpPr>
            <a:spLocks noGrp="1"/>
          </p:cNvSpPr>
          <p:nvPr>
            <p:ph idx="1"/>
          </p:nvPr>
        </p:nvSpPr>
        <p:spPr>
          <a:xfrm>
            <a:off x="838200" y="1825624"/>
            <a:ext cx="10515600" cy="5032376"/>
          </a:xfrm>
        </p:spPr>
        <p:txBody>
          <a:bodyPr>
            <a:normAutofit/>
          </a:bodyPr>
          <a:lstStyle/>
          <a:p>
            <a:pPr marL="0" indent="0">
              <a:buNone/>
            </a:pPr>
            <a:r>
              <a:rPr lang="en-US" b="1" dirty="0"/>
              <a:t>Movies watch list: </a:t>
            </a:r>
            <a:r>
              <a:rPr lang="en-US" dirty="0"/>
              <a:t>app for saving the movies that you watch along with their rating.</a:t>
            </a:r>
          </a:p>
          <a:p>
            <a:pPr marL="0" indent="0">
              <a:buNone/>
            </a:pPr>
            <a:r>
              <a:rPr lang="en-US" b="1" dirty="0"/>
              <a:t>Requirements</a:t>
            </a:r>
          </a:p>
          <a:p>
            <a:pPr marL="514350" indent="-514350">
              <a:buFont typeface="+mj-lt"/>
              <a:buAutoNum type="arabicPeriod"/>
            </a:pPr>
            <a:r>
              <a:rPr lang="en-US" dirty="0"/>
              <a:t>Add, remove movies to the list</a:t>
            </a:r>
          </a:p>
          <a:p>
            <a:pPr marL="514350" indent="-514350">
              <a:buFont typeface="+mj-lt"/>
              <a:buAutoNum type="arabicPeriod"/>
            </a:pPr>
            <a:r>
              <a:rPr lang="en-US" dirty="0"/>
              <a:t>Adding a comment review to the movie</a:t>
            </a:r>
          </a:p>
          <a:p>
            <a:pPr marL="514350" indent="-514350">
              <a:buFont typeface="+mj-lt"/>
              <a:buAutoNum type="arabicPeriod"/>
            </a:pPr>
            <a:r>
              <a:rPr lang="en-US" dirty="0"/>
              <a:t>Add a starts rating to the movie. </a:t>
            </a:r>
          </a:p>
          <a:p>
            <a:pPr marL="514350" indent="-514350">
              <a:buFont typeface="+mj-lt"/>
              <a:buAutoNum type="arabicPeriod"/>
            </a:pPr>
            <a:r>
              <a:rPr lang="en-US" dirty="0"/>
              <a:t>Show how many starts you have given to the movie using </a:t>
            </a:r>
            <a:r>
              <a:rPr lang="en-US" dirty="0" err="1"/>
              <a:t>emojies</a:t>
            </a:r>
            <a:r>
              <a:rPr lang="en-US" dirty="0"/>
              <a:t> ⭐</a:t>
            </a:r>
          </a:p>
          <a:p>
            <a:pPr marL="0" indent="0">
              <a:buNone/>
            </a:pPr>
            <a:r>
              <a:rPr lang="en-US" dirty="0"/>
              <a:t>You can use AI for styling but </a:t>
            </a:r>
            <a:r>
              <a:rPr lang="en-US" b="1" dirty="0"/>
              <a:t>NOT for React related work.</a:t>
            </a:r>
          </a:p>
          <a:p>
            <a:pPr marL="0" indent="0">
              <a:buNone/>
            </a:pPr>
            <a:r>
              <a:rPr lang="en-US" dirty="0"/>
              <a:t>Use the react docs.</a:t>
            </a:r>
          </a:p>
          <a:p>
            <a:pPr marL="514350" indent="-514350">
              <a:buFont typeface="+mj-lt"/>
              <a:buAutoNum type="arabicPeriod"/>
            </a:pPr>
            <a:endParaRPr lang="en-US" dirty="0"/>
          </a:p>
        </p:txBody>
      </p:sp>
    </p:spTree>
    <p:extLst>
      <p:ext uri="{BB962C8B-B14F-4D97-AF65-F5344CB8AC3E}">
        <p14:creationId xmlns:p14="http://schemas.microsoft.com/office/powerpoint/2010/main" val="9803225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276</TotalTime>
  <Words>966</Words>
  <Application>Microsoft Office PowerPoint</Application>
  <PresentationFormat>Widescreen</PresentationFormat>
  <Paragraphs>87</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Aptos Display</vt:lpstr>
      <vt:lpstr>Arial</vt:lpstr>
      <vt:lpstr>Office Theme</vt:lpstr>
      <vt:lpstr>Web Development</vt:lpstr>
      <vt:lpstr>Intro to React</vt:lpstr>
      <vt:lpstr>What is React? </vt:lpstr>
      <vt:lpstr>Some React code</vt:lpstr>
      <vt:lpstr>Some React code</vt:lpstr>
      <vt:lpstr>Some React code</vt:lpstr>
      <vt:lpstr>Why React</vt:lpstr>
      <vt:lpstr>Some React terms</vt:lpstr>
      <vt:lpstr>Let’s learn React</vt:lpstr>
      <vt:lpstr>Let’s learn React – Components </vt:lpstr>
      <vt:lpstr>Let’s learn React</vt:lpstr>
      <vt:lpstr>Let’s learn React – Styling </vt:lpstr>
      <vt:lpstr>Let’s learn React</vt:lpstr>
      <vt:lpstr>Let’s learn React – Displaying Data</vt:lpstr>
      <vt:lpstr>Let’s learn React – Displaying Data</vt:lpstr>
      <vt:lpstr>Let’s learn React – Displaying Data</vt:lpstr>
      <vt:lpstr>Let’s learn React – Displaying Data</vt:lpstr>
      <vt:lpstr>Let’s learn React – Displaying Data</vt:lpstr>
      <vt:lpstr>Let’s learn React – Displaying Data</vt:lpstr>
      <vt:lpstr>Let’s learn React – Updating the screen</vt:lpstr>
      <vt:lpstr>Let’s learn React – Displaying Data</vt:lpstr>
      <vt:lpstr>Let’s learn React – Updating the screen</vt:lpstr>
      <vt:lpstr>Let’s learn React – Sharing data between components</vt:lpstr>
      <vt:lpstr>PowerPoint Presentation</vt:lpstr>
      <vt:lpstr>PowerPoint Presentation</vt:lpstr>
      <vt:lpstr>Why React?</vt:lpstr>
      <vt:lpstr>Lab 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Mina Shawkat Shaker Gerges 20P9476</dc:creator>
  <cp:lastModifiedBy>Hamdy  Osama Mohammed El-Sayed Farag</cp:lastModifiedBy>
  <cp:revision>4</cp:revision>
  <dcterms:created xsi:type="dcterms:W3CDTF">2025-10-19T10:33:42Z</dcterms:created>
  <dcterms:modified xsi:type="dcterms:W3CDTF">2025-10-26T15:50:56Z</dcterms:modified>
</cp:coreProperties>
</file>